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0"/>
  </p:notesMasterIdLst>
  <p:sldIdLst>
    <p:sldId id="257" r:id="rId2"/>
    <p:sldId id="294" r:id="rId3"/>
    <p:sldId id="295" r:id="rId4"/>
    <p:sldId id="256" r:id="rId5"/>
    <p:sldId id="274" r:id="rId6"/>
    <p:sldId id="276" r:id="rId7"/>
    <p:sldId id="286" r:id="rId8"/>
    <p:sldId id="299" r:id="rId9"/>
    <p:sldId id="279" r:id="rId10"/>
    <p:sldId id="296" r:id="rId11"/>
    <p:sldId id="291" r:id="rId12"/>
    <p:sldId id="292" r:id="rId13"/>
    <p:sldId id="293" r:id="rId14"/>
    <p:sldId id="297" r:id="rId15"/>
    <p:sldId id="278" r:id="rId16"/>
    <p:sldId id="298" r:id="rId17"/>
    <p:sldId id="262"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43"/>
    <p:restoredTop sz="96341"/>
  </p:normalViewPr>
  <p:slideViewPr>
    <p:cSldViewPr snapToGrid="0">
      <p:cViewPr varScale="1">
        <p:scale>
          <a:sx n="134" d="100"/>
          <a:sy n="134" d="100"/>
        </p:scale>
        <p:origin x="4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BC3685-AED7-F843-83AA-87410E9FC3ED}" type="datetimeFigureOut">
              <a:rPr lang="en-US" smtClean="0"/>
              <a:t>11/28/25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047A8-421A-D842-87B8-1D4E5F9EB281}" type="slidenum">
              <a:rPr lang="en-US" smtClean="0"/>
              <a:t>‹#›</a:t>
            </a:fld>
            <a:endParaRPr lang="en-US"/>
          </a:p>
        </p:txBody>
      </p:sp>
    </p:spTree>
    <p:extLst>
      <p:ext uri="{BB962C8B-B14F-4D97-AF65-F5344CB8AC3E}">
        <p14:creationId xmlns:p14="http://schemas.microsoft.com/office/powerpoint/2010/main" val="994683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CD50-44E7-D734-EDE8-ED8B462DC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E6195-7D38-A02D-B82C-2C21ADCF3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96D72-87BD-5194-6B69-99CAC654B4B6}"/>
              </a:ext>
            </a:extLst>
          </p:cNvPr>
          <p:cNvSpPr>
            <a:spLocks noGrp="1"/>
          </p:cNvSpPr>
          <p:nvPr>
            <p:ph type="body" idx="1"/>
          </p:nvPr>
        </p:nvSpPr>
        <p:spPr/>
        <p:txBody>
          <a:bodyPr/>
          <a:lstStyle/>
          <a:p>
            <a:r>
              <a:rPr lang="en-US" dirty="0"/>
              <a:t>- Aeroelasticity  leads to safety and performance, S</a:t>
            </a:r>
          </a:p>
        </p:txBody>
      </p:sp>
      <p:sp>
        <p:nvSpPr>
          <p:cNvPr id="4" name="Slide Number Placeholder 3">
            <a:extLst>
              <a:ext uri="{FF2B5EF4-FFF2-40B4-BE49-F238E27FC236}">
                <a16:creationId xmlns:a16="http://schemas.microsoft.com/office/drawing/2014/main" id="{1C621ED4-9123-374C-F11C-312A00242100}"/>
              </a:ext>
            </a:extLst>
          </p:cNvPr>
          <p:cNvSpPr>
            <a:spLocks noGrp="1"/>
          </p:cNvSpPr>
          <p:nvPr>
            <p:ph type="sldNum" sz="quarter" idx="5"/>
          </p:nvPr>
        </p:nvSpPr>
        <p:spPr/>
        <p:txBody>
          <a:bodyPr/>
          <a:lstStyle/>
          <a:p>
            <a:fld id="{9A7047A8-421A-D842-87B8-1D4E5F9EB281}" type="slidenum">
              <a:rPr lang="en-US" smtClean="0"/>
              <a:t>2</a:t>
            </a:fld>
            <a:endParaRPr lang="en-US"/>
          </a:p>
        </p:txBody>
      </p:sp>
    </p:spTree>
    <p:extLst>
      <p:ext uri="{BB962C8B-B14F-4D97-AF65-F5344CB8AC3E}">
        <p14:creationId xmlns:p14="http://schemas.microsoft.com/office/powerpoint/2010/main" val="1357382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F1D3-C0B8-8BF5-AA07-B6FC328DA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3ED34-6DD2-B19F-3B58-666D59EE6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78444-4036-3E2A-872A-5DC9323520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D8064-900B-5404-0A20-0F193A8CA406}"/>
              </a:ext>
            </a:extLst>
          </p:cNvPr>
          <p:cNvSpPr>
            <a:spLocks noGrp="1"/>
          </p:cNvSpPr>
          <p:nvPr>
            <p:ph type="sldNum" sz="quarter" idx="5"/>
          </p:nvPr>
        </p:nvSpPr>
        <p:spPr/>
        <p:txBody>
          <a:bodyPr/>
          <a:lstStyle/>
          <a:p>
            <a:fld id="{9A7047A8-421A-D842-87B8-1D4E5F9EB281}" type="slidenum">
              <a:rPr lang="en-US" smtClean="0"/>
              <a:t>3</a:t>
            </a:fld>
            <a:endParaRPr lang="en-US"/>
          </a:p>
        </p:txBody>
      </p:sp>
    </p:spTree>
    <p:extLst>
      <p:ext uri="{BB962C8B-B14F-4D97-AF65-F5344CB8AC3E}">
        <p14:creationId xmlns:p14="http://schemas.microsoft.com/office/powerpoint/2010/main" val="2220933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047A8-421A-D842-87B8-1D4E5F9EB281}" type="slidenum">
              <a:rPr lang="en-US" smtClean="0"/>
              <a:t>4</a:t>
            </a:fld>
            <a:endParaRPr lang="en-US"/>
          </a:p>
        </p:txBody>
      </p:sp>
    </p:spTree>
    <p:extLst>
      <p:ext uri="{BB962C8B-B14F-4D97-AF65-F5344CB8AC3E}">
        <p14:creationId xmlns:p14="http://schemas.microsoft.com/office/powerpoint/2010/main" val="1560431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DD8F-4E95-95DD-AE63-B6B1163A1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6BBDA-0ADF-4D08-09B9-8CF41CA24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536D2-47D4-1A74-3C59-28B9EFB16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44DDB-69AE-D2BA-702A-BD8385FB6368}"/>
              </a:ext>
            </a:extLst>
          </p:cNvPr>
          <p:cNvSpPr>
            <a:spLocks noGrp="1"/>
          </p:cNvSpPr>
          <p:nvPr>
            <p:ph type="sldNum" sz="quarter" idx="5"/>
          </p:nvPr>
        </p:nvSpPr>
        <p:spPr/>
        <p:txBody>
          <a:bodyPr/>
          <a:lstStyle/>
          <a:p>
            <a:fld id="{9A7047A8-421A-D842-87B8-1D4E5F9EB281}" type="slidenum">
              <a:rPr lang="en-US" smtClean="0"/>
              <a:t>5</a:t>
            </a:fld>
            <a:endParaRPr lang="en-US"/>
          </a:p>
        </p:txBody>
      </p:sp>
    </p:spTree>
    <p:extLst>
      <p:ext uri="{BB962C8B-B14F-4D97-AF65-F5344CB8AC3E}">
        <p14:creationId xmlns:p14="http://schemas.microsoft.com/office/powerpoint/2010/main" val="3000867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85F3-1A6B-E6D0-3D0D-484E009F5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6D8DC-EE3C-EB07-BF1A-545F4FBE5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07B75-12F6-A6F3-A6B3-AE8D19B0CEEA}"/>
              </a:ext>
            </a:extLst>
          </p:cNvPr>
          <p:cNvSpPr>
            <a:spLocks noGrp="1"/>
          </p:cNvSpPr>
          <p:nvPr>
            <p:ph type="body" idx="1"/>
          </p:nvPr>
        </p:nvSpPr>
        <p:spPr/>
        <p:txBody>
          <a:bodyPr/>
          <a:lstStyle/>
          <a:p>
            <a:r>
              <a:rPr lang="en-US" dirty="0"/>
              <a:t>- Aeroelasticity  leads to safety and performance, S</a:t>
            </a:r>
          </a:p>
        </p:txBody>
      </p:sp>
      <p:sp>
        <p:nvSpPr>
          <p:cNvPr id="4" name="Slide Number Placeholder 3">
            <a:extLst>
              <a:ext uri="{FF2B5EF4-FFF2-40B4-BE49-F238E27FC236}">
                <a16:creationId xmlns:a16="http://schemas.microsoft.com/office/drawing/2014/main" id="{444B2A01-300C-E446-9100-BA530B1ADF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6481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E35CD-FC1C-4AC6-3FAB-AED7962EC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E6FAE-4FA8-5E41-32E1-C9EF274D7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EFC7B-2444-3D94-F84E-1C74FBAF86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891607-496B-59AD-7628-ABF2B535BE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0615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44BAB-FE7A-2634-623A-AB5B92F12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C8165-506C-D877-31D1-3D82A3964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547A6-73F7-71C3-E01C-E85FEE805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4001D1-7E26-977B-0456-0AD5FD4CBD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521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7745-39AA-DEEA-EA18-5840B7157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A178B-50C3-48C7-C9E5-59C537BF4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25640-0339-D606-D110-580738ACA4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3EFBB2-C0AC-3D42-906C-51600E3BA9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0796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3DDAD-C9FF-22C0-6EB8-8C790E3E1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47762-8121-17A4-5566-1D54206A6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90B00-A7E7-0894-2FCD-0CF23D6E2529}"/>
              </a:ext>
            </a:extLst>
          </p:cNvPr>
          <p:cNvSpPr>
            <a:spLocks noGrp="1"/>
          </p:cNvSpPr>
          <p:nvPr>
            <p:ph type="body" idx="1"/>
          </p:nvPr>
        </p:nvSpPr>
        <p:spPr/>
        <p:txBody>
          <a:bodyPr/>
          <a:lstStyle/>
          <a:p>
            <a:r>
              <a:rPr lang="en-US" dirty="0"/>
              <a:t>- Aeroelasticity  leads to safety and performance, S</a:t>
            </a:r>
          </a:p>
        </p:txBody>
      </p:sp>
      <p:sp>
        <p:nvSpPr>
          <p:cNvPr id="4" name="Slide Number Placeholder 3">
            <a:extLst>
              <a:ext uri="{FF2B5EF4-FFF2-40B4-BE49-F238E27FC236}">
                <a16:creationId xmlns:a16="http://schemas.microsoft.com/office/drawing/2014/main" id="{1304550B-6F4A-1C27-BD47-91EBA76BB1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0689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D553D-7CC1-3C1A-8574-0AF6A76D4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45C53-8CF7-24BF-BD3C-6297E7838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BB4E6-EA86-C13C-7756-D17133BAC4B5}"/>
              </a:ext>
            </a:extLst>
          </p:cNvPr>
          <p:cNvSpPr>
            <a:spLocks noGrp="1"/>
          </p:cNvSpPr>
          <p:nvPr>
            <p:ph type="body" idx="1"/>
          </p:nvPr>
        </p:nvSpPr>
        <p:spPr/>
        <p:txBody>
          <a:bodyPr/>
          <a:lstStyle/>
          <a:p>
            <a:r>
              <a:rPr lang="en-US" dirty="0"/>
              <a:t>- Aeroelasticity  leads to safety and performance, S</a:t>
            </a:r>
          </a:p>
        </p:txBody>
      </p:sp>
      <p:sp>
        <p:nvSpPr>
          <p:cNvPr id="4" name="Slide Number Placeholder 3">
            <a:extLst>
              <a:ext uri="{FF2B5EF4-FFF2-40B4-BE49-F238E27FC236}">
                <a16:creationId xmlns:a16="http://schemas.microsoft.com/office/drawing/2014/main" id="{013FAB93-A816-755E-50D3-4E739F47ED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1688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F6A57-9CA9-9E49-77D0-018D1BDDC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D9629-2A3E-FF9F-68EC-28C6128E9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68A6BF-0192-46F5-3F1B-E055DBFB13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F85E32-65AC-6C51-5AB1-D05125717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0957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AFDEA-F1A1-1E30-59B7-6DECDCC03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475D7-AE18-36C8-AD7A-29450C17D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CDB3B-2703-1E01-CC7E-B20A4930D6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41D007-4597-275B-9141-2B3DD53541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047A8-421A-D842-87B8-1D4E5F9EB2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0817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A4EE-2320-5652-3DC0-32B5176E0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2BA00-A460-F139-A0CB-148704634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1E3E7-BCCE-16A9-7608-44470D1DA8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A9212-0533-A190-AE81-41D3AFDE6396}"/>
              </a:ext>
            </a:extLst>
          </p:cNvPr>
          <p:cNvSpPr>
            <a:spLocks noGrp="1"/>
          </p:cNvSpPr>
          <p:nvPr>
            <p:ph type="sldNum" sz="quarter" idx="5"/>
          </p:nvPr>
        </p:nvSpPr>
        <p:spPr/>
        <p:txBody>
          <a:bodyPr/>
          <a:lstStyle/>
          <a:p>
            <a:fld id="{9A7047A8-421A-D842-87B8-1D4E5F9EB281}" type="slidenum">
              <a:rPr lang="en-US" smtClean="0"/>
              <a:t>14</a:t>
            </a:fld>
            <a:endParaRPr lang="en-US"/>
          </a:p>
        </p:txBody>
      </p:sp>
    </p:spTree>
    <p:extLst>
      <p:ext uri="{BB962C8B-B14F-4D97-AF65-F5344CB8AC3E}">
        <p14:creationId xmlns:p14="http://schemas.microsoft.com/office/powerpoint/2010/main" val="2490994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25FD5-97C6-B5CB-9015-409EB27D8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58CA2-F513-0E2E-D3DC-7653448C8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C0810-503E-DFE8-54FF-1882C4A530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092F3-B0F4-91EE-1A42-7EAF438EA73E}"/>
              </a:ext>
            </a:extLst>
          </p:cNvPr>
          <p:cNvSpPr>
            <a:spLocks noGrp="1"/>
          </p:cNvSpPr>
          <p:nvPr>
            <p:ph type="sldNum" sz="quarter" idx="5"/>
          </p:nvPr>
        </p:nvSpPr>
        <p:spPr/>
        <p:txBody>
          <a:bodyPr/>
          <a:lstStyle/>
          <a:p>
            <a:fld id="{9A7047A8-421A-D842-87B8-1D4E5F9EB281}" type="slidenum">
              <a:rPr lang="en-US" smtClean="0"/>
              <a:t>15</a:t>
            </a:fld>
            <a:endParaRPr lang="en-US"/>
          </a:p>
        </p:txBody>
      </p:sp>
    </p:spTree>
    <p:extLst>
      <p:ext uri="{BB962C8B-B14F-4D97-AF65-F5344CB8AC3E}">
        <p14:creationId xmlns:p14="http://schemas.microsoft.com/office/powerpoint/2010/main" val="3944837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0F82-F686-14E4-98AE-896E4D445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FBD9F-EC0C-C907-90F0-DF9093755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6710F-1EAC-242F-EC0B-9EAE1835C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CB7E71-AE74-EBD4-358F-57D8FE9B064E}"/>
              </a:ext>
            </a:extLst>
          </p:cNvPr>
          <p:cNvSpPr>
            <a:spLocks noGrp="1"/>
          </p:cNvSpPr>
          <p:nvPr>
            <p:ph type="sldNum" sz="quarter" idx="5"/>
          </p:nvPr>
        </p:nvSpPr>
        <p:spPr/>
        <p:txBody>
          <a:bodyPr/>
          <a:lstStyle/>
          <a:p>
            <a:fld id="{9A7047A8-421A-D842-87B8-1D4E5F9EB281}" type="slidenum">
              <a:rPr lang="en-US" smtClean="0"/>
              <a:t>16</a:t>
            </a:fld>
            <a:endParaRPr lang="en-US"/>
          </a:p>
        </p:txBody>
      </p:sp>
    </p:spTree>
    <p:extLst>
      <p:ext uri="{BB962C8B-B14F-4D97-AF65-F5344CB8AC3E}">
        <p14:creationId xmlns:p14="http://schemas.microsoft.com/office/powerpoint/2010/main" val="1066336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F183B-8A2B-FF3F-800D-2090C5152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58BD4-A883-9EE7-7713-8F4F99D55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C63C5-2F41-A195-0928-03A4CA842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3C5E4C-3B1D-E6FA-FE06-97C8C25E061D}"/>
              </a:ext>
            </a:extLst>
          </p:cNvPr>
          <p:cNvSpPr>
            <a:spLocks noGrp="1"/>
          </p:cNvSpPr>
          <p:nvPr>
            <p:ph type="sldNum" sz="quarter" idx="5"/>
          </p:nvPr>
        </p:nvSpPr>
        <p:spPr/>
        <p:txBody>
          <a:bodyPr/>
          <a:lstStyle/>
          <a:p>
            <a:fld id="{9A7047A8-421A-D842-87B8-1D4E5F9EB281}" type="slidenum">
              <a:rPr lang="en-US" smtClean="0"/>
              <a:t>17</a:t>
            </a:fld>
            <a:endParaRPr lang="en-US"/>
          </a:p>
        </p:txBody>
      </p:sp>
    </p:spTree>
    <p:extLst>
      <p:ext uri="{BB962C8B-B14F-4D97-AF65-F5344CB8AC3E}">
        <p14:creationId xmlns:p14="http://schemas.microsoft.com/office/powerpoint/2010/main" val="2395378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24FF-C5DF-1A7B-2F39-24BB0581DA5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EA1C90F-491E-AF9F-71DF-A9A7FBECB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FA86BAB-68F9-E9DF-1579-B3FB8AAE0641}"/>
              </a:ext>
            </a:extLst>
          </p:cNvPr>
          <p:cNvSpPr>
            <a:spLocks noGrp="1"/>
          </p:cNvSpPr>
          <p:nvPr>
            <p:ph type="dt" sz="half" idx="10"/>
          </p:nvPr>
        </p:nvSpPr>
        <p:spPr/>
        <p:txBody>
          <a:bodyPr/>
          <a:lstStyle/>
          <a:p>
            <a:fld id="{BE1A3F7C-456A-45A9-87E4-766475A8B07B}" type="datetime1">
              <a:rPr lang="en-US" smtClean="0"/>
              <a:t>11/28/25</a:t>
            </a:fld>
            <a:endParaRPr lang="en-US"/>
          </a:p>
        </p:txBody>
      </p:sp>
      <p:sp>
        <p:nvSpPr>
          <p:cNvPr id="5" name="Footer Placeholder 4">
            <a:extLst>
              <a:ext uri="{FF2B5EF4-FFF2-40B4-BE49-F238E27FC236}">
                <a16:creationId xmlns:a16="http://schemas.microsoft.com/office/drawing/2014/main" id="{DA20F933-C740-E2A1-E78A-F516A0BD2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AC88E-426D-AA58-D538-0B6E09FD7C3A}"/>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2353095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883A-A920-09C4-CD95-5ADEC9AD7C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F5FA3EE-A5BE-E949-9A8A-B0A5009CB7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560BD3-A629-5824-E526-164F304C1F1D}"/>
              </a:ext>
            </a:extLst>
          </p:cNvPr>
          <p:cNvSpPr>
            <a:spLocks noGrp="1"/>
          </p:cNvSpPr>
          <p:nvPr>
            <p:ph type="dt" sz="half" idx="10"/>
          </p:nvPr>
        </p:nvSpPr>
        <p:spPr/>
        <p:txBody>
          <a:bodyPr/>
          <a:lstStyle/>
          <a:p>
            <a:fld id="{6597B1BD-35B1-4636-A18E-54E0FF8AF337}" type="datetime1">
              <a:rPr lang="en-US" smtClean="0"/>
              <a:t>11/28/25</a:t>
            </a:fld>
            <a:endParaRPr lang="en-US"/>
          </a:p>
        </p:txBody>
      </p:sp>
      <p:sp>
        <p:nvSpPr>
          <p:cNvPr id="5" name="Footer Placeholder 4">
            <a:extLst>
              <a:ext uri="{FF2B5EF4-FFF2-40B4-BE49-F238E27FC236}">
                <a16:creationId xmlns:a16="http://schemas.microsoft.com/office/drawing/2014/main" id="{DAEBE4AD-7C2B-1DF7-C469-087EFB7AA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1FF434-9318-5E47-5AAB-457F482819A1}"/>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839803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D6FD-B610-A38F-9467-0012914466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27CC90-7BE3-006C-55C6-0B46539457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3742DAB-4075-056D-06A7-93CBD1F851AE}"/>
              </a:ext>
            </a:extLst>
          </p:cNvPr>
          <p:cNvSpPr>
            <a:spLocks noGrp="1"/>
          </p:cNvSpPr>
          <p:nvPr>
            <p:ph type="dt" sz="half" idx="10"/>
          </p:nvPr>
        </p:nvSpPr>
        <p:spPr/>
        <p:txBody>
          <a:bodyPr/>
          <a:lstStyle/>
          <a:p>
            <a:fld id="{2FCA1015-9330-4250-9ACA-2402FCDCE933}" type="datetime1">
              <a:rPr lang="en-US" smtClean="0"/>
              <a:t>11/28/25</a:t>
            </a:fld>
            <a:endParaRPr lang="en-US"/>
          </a:p>
        </p:txBody>
      </p:sp>
      <p:sp>
        <p:nvSpPr>
          <p:cNvPr id="5" name="Footer Placeholder 4">
            <a:extLst>
              <a:ext uri="{FF2B5EF4-FFF2-40B4-BE49-F238E27FC236}">
                <a16:creationId xmlns:a16="http://schemas.microsoft.com/office/drawing/2014/main" id="{F823512E-1CAB-EFA1-1FD8-5B6642575E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257F3-03BA-817E-8C29-F9FC6FA6BB3F}"/>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20613268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9F294-85AD-E38B-42E8-9F686904093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4B4376-0CF8-06F5-EB18-DBAE19D5F1E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170E5B3-A3B3-1D18-9672-18E4C27FC60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5810078-0612-E05E-4022-7FF13732C716}"/>
              </a:ext>
            </a:extLst>
          </p:cNvPr>
          <p:cNvSpPr>
            <a:spLocks noGrp="1"/>
          </p:cNvSpPr>
          <p:nvPr>
            <p:ph type="dt" sz="half" idx="10"/>
          </p:nvPr>
        </p:nvSpPr>
        <p:spPr/>
        <p:txBody>
          <a:bodyPr/>
          <a:lstStyle/>
          <a:p>
            <a:fld id="{510BF490-9B0C-4846-9101-D4949AFC6C3E}" type="datetime1">
              <a:rPr lang="en-US" smtClean="0"/>
              <a:t>11/28/25</a:t>
            </a:fld>
            <a:endParaRPr lang="en-US"/>
          </a:p>
        </p:txBody>
      </p:sp>
      <p:sp>
        <p:nvSpPr>
          <p:cNvPr id="6" name="Footer Placeholder 5">
            <a:extLst>
              <a:ext uri="{FF2B5EF4-FFF2-40B4-BE49-F238E27FC236}">
                <a16:creationId xmlns:a16="http://schemas.microsoft.com/office/drawing/2014/main" id="{8EA64F12-3F9F-5A85-F220-A59D64C3F2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6A5D4-649F-F461-15C0-A705E41F0AA9}"/>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14353821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377E-6569-DEE8-7D55-E3AEA7EC64A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01B9956-78F5-1449-991E-0752FD50E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90DDE3-D5E3-702C-FD9A-9A17B85731A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372155B-4350-4B78-BEDF-5B32F4400F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F10B982-2321-394C-5EB5-39962EDF11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28C1483-D62E-1698-BE26-999607DAC51E}"/>
              </a:ext>
            </a:extLst>
          </p:cNvPr>
          <p:cNvSpPr>
            <a:spLocks noGrp="1"/>
          </p:cNvSpPr>
          <p:nvPr>
            <p:ph type="dt" sz="half" idx="10"/>
          </p:nvPr>
        </p:nvSpPr>
        <p:spPr/>
        <p:txBody>
          <a:bodyPr/>
          <a:lstStyle/>
          <a:p>
            <a:fld id="{D97EC15B-1F62-47E3-950D-C7F744D85502}" type="datetime1">
              <a:rPr lang="en-US" smtClean="0"/>
              <a:t>11/28/25</a:t>
            </a:fld>
            <a:endParaRPr lang="en-US"/>
          </a:p>
        </p:txBody>
      </p:sp>
      <p:sp>
        <p:nvSpPr>
          <p:cNvPr id="8" name="Footer Placeholder 7">
            <a:extLst>
              <a:ext uri="{FF2B5EF4-FFF2-40B4-BE49-F238E27FC236}">
                <a16:creationId xmlns:a16="http://schemas.microsoft.com/office/drawing/2014/main" id="{AF95FDD9-F44E-075B-7C39-FC56131877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E83A68-5955-242D-3074-26B5B02FEDE4}"/>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15440282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C98A-67E6-B5CE-4C40-37A513D728D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2028264-F532-EC60-CE2B-644022740C00}"/>
              </a:ext>
            </a:extLst>
          </p:cNvPr>
          <p:cNvSpPr>
            <a:spLocks noGrp="1"/>
          </p:cNvSpPr>
          <p:nvPr>
            <p:ph type="dt" sz="half" idx="10"/>
          </p:nvPr>
        </p:nvSpPr>
        <p:spPr/>
        <p:txBody>
          <a:bodyPr/>
          <a:lstStyle/>
          <a:p>
            <a:fld id="{72E3B4E9-E139-4EF1-B364-4A1256371EB2}" type="datetime1">
              <a:rPr lang="en-US" smtClean="0"/>
              <a:t>11/28/25</a:t>
            </a:fld>
            <a:endParaRPr lang="en-US"/>
          </a:p>
        </p:txBody>
      </p:sp>
      <p:sp>
        <p:nvSpPr>
          <p:cNvPr id="4" name="Footer Placeholder 3">
            <a:extLst>
              <a:ext uri="{FF2B5EF4-FFF2-40B4-BE49-F238E27FC236}">
                <a16:creationId xmlns:a16="http://schemas.microsoft.com/office/drawing/2014/main" id="{1B0F88B1-3CD7-0FF7-4C50-968B7F0294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10C8B5-1467-CE56-E829-FBB288C435BF}"/>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1955808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7CDB8-BB45-5931-217B-4179927D07D7}"/>
              </a:ext>
            </a:extLst>
          </p:cNvPr>
          <p:cNvSpPr>
            <a:spLocks noGrp="1"/>
          </p:cNvSpPr>
          <p:nvPr>
            <p:ph type="dt" sz="half" idx="10"/>
          </p:nvPr>
        </p:nvSpPr>
        <p:spPr/>
        <p:txBody>
          <a:bodyPr/>
          <a:lstStyle/>
          <a:p>
            <a:fld id="{782E051A-EEF7-4247-B88A-F8B08CCB24BE}" type="datetime1">
              <a:rPr lang="en-US" smtClean="0"/>
              <a:t>11/28/25</a:t>
            </a:fld>
            <a:endParaRPr lang="en-US"/>
          </a:p>
        </p:txBody>
      </p:sp>
      <p:sp>
        <p:nvSpPr>
          <p:cNvPr id="3" name="Footer Placeholder 2">
            <a:extLst>
              <a:ext uri="{FF2B5EF4-FFF2-40B4-BE49-F238E27FC236}">
                <a16:creationId xmlns:a16="http://schemas.microsoft.com/office/drawing/2014/main" id="{DD816814-381F-AC30-8B8F-6A44431FA1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B0C350-73A6-B0E7-8356-2B641E20DA20}"/>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4260971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513C2-696B-6006-DB55-BAAE67CEC0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9DC31C5-C5F2-521F-B1F5-1DBBC5D063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5D5E6C9-1A75-529F-BDAC-37DDFBBE1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3ED1F1-F719-C239-63B7-C9C6F69AAE55}"/>
              </a:ext>
            </a:extLst>
          </p:cNvPr>
          <p:cNvSpPr>
            <a:spLocks noGrp="1"/>
          </p:cNvSpPr>
          <p:nvPr>
            <p:ph type="dt" sz="half" idx="10"/>
          </p:nvPr>
        </p:nvSpPr>
        <p:spPr/>
        <p:txBody>
          <a:bodyPr/>
          <a:lstStyle/>
          <a:p>
            <a:fld id="{B6FBE0DD-DE8D-47D6-AFB5-70465A35C249}" type="datetime1">
              <a:rPr lang="en-US" smtClean="0"/>
              <a:t>11/28/25</a:t>
            </a:fld>
            <a:endParaRPr lang="en-US"/>
          </a:p>
        </p:txBody>
      </p:sp>
      <p:sp>
        <p:nvSpPr>
          <p:cNvPr id="6" name="Footer Placeholder 5">
            <a:extLst>
              <a:ext uri="{FF2B5EF4-FFF2-40B4-BE49-F238E27FC236}">
                <a16:creationId xmlns:a16="http://schemas.microsoft.com/office/drawing/2014/main" id="{7FC2730D-00B0-B2EF-1B19-8A90AB5C2D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9B41A-E2CB-7BEC-B7F4-EE02428CDA45}"/>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7686482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43AB5-56F3-7033-DEEA-7C8C361062F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CB9E2A-727E-260D-4B73-E82AC8B210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067CCB-BE7B-FFEB-C25D-A325BF802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3C268E-4826-1944-837B-457BAEBE92C6}"/>
              </a:ext>
            </a:extLst>
          </p:cNvPr>
          <p:cNvSpPr>
            <a:spLocks noGrp="1"/>
          </p:cNvSpPr>
          <p:nvPr>
            <p:ph type="dt" sz="half" idx="10"/>
          </p:nvPr>
        </p:nvSpPr>
        <p:spPr/>
        <p:txBody>
          <a:bodyPr/>
          <a:lstStyle/>
          <a:p>
            <a:fld id="{353F39AD-1A87-44D3-B914-F879330D36C2}" type="datetime1">
              <a:rPr lang="en-US" smtClean="0"/>
              <a:t>11/28/25</a:t>
            </a:fld>
            <a:endParaRPr lang="en-US"/>
          </a:p>
        </p:txBody>
      </p:sp>
      <p:sp>
        <p:nvSpPr>
          <p:cNvPr id="6" name="Footer Placeholder 5">
            <a:extLst>
              <a:ext uri="{FF2B5EF4-FFF2-40B4-BE49-F238E27FC236}">
                <a16:creationId xmlns:a16="http://schemas.microsoft.com/office/drawing/2014/main" id="{FF3B395C-F705-F3E4-1EFF-5C11E1C901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EA8D5-3145-7B80-904B-BF8B7FB1ED98}"/>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5615506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5AE5-F1DE-7A47-566D-9B1347F792E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E3522F-386F-764C-B676-E81AABC117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9BC9C5-ED44-D521-14E5-07D5AEF7975E}"/>
              </a:ext>
            </a:extLst>
          </p:cNvPr>
          <p:cNvSpPr>
            <a:spLocks noGrp="1"/>
          </p:cNvSpPr>
          <p:nvPr>
            <p:ph type="dt" sz="half" idx="10"/>
          </p:nvPr>
        </p:nvSpPr>
        <p:spPr/>
        <p:txBody>
          <a:bodyPr/>
          <a:lstStyle/>
          <a:p>
            <a:fld id="{88197D53-C14B-4F76-942E-CE39891B82F6}" type="datetime1">
              <a:rPr lang="en-US" smtClean="0"/>
              <a:t>11/28/25</a:t>
            </a:fld>
            <a:endParaRPr lang="en-US"/>
          </a:p>
        </p:txBody>
      </p:sp>
      <p:sp>
        <p:nvSpPr>
          <p:cNvPr id="5" name="Footer Placeholder 4">
            <a:extLst>
              <a:ext uri="{FF2B5EF4-FFF2-40B4-BE49-F238E27FC236}">
                <a16:creationId xmlns:a16="http://schemas.microsoft.com/office/drawing/2014/main" id="{CB09C86B-2B41-34E2-F16B-6954E45EC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8C1DD-05E3-1975-B7C1-8792145E7C8A}"/>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1053025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A49FB9-D85F-96BD-6427-581950C0D00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1BE395-7337-0B0E-E197-B8586F4B039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6072A9-BAFF-4722-90F3-FCC92FB37771}"/>
              </a:ext>
            </a:extLst>
          </p:cNvPr>
          <p:cNvSpPr>
            <a:spLocks noGrp="1"/>
          </p:cNvSpPr>
          <p:nvPr>
            <p:ph type="dt" sz="half" idx="10"/>
          </p:nvPr>
        </p:nvSpPr>
        <p:spPr/>
        <p:txBody>
          <a:bodyPr/>
          <a:lstStyle/>
          <a:p>
            <a:fld id="{1191B333-5FB0-4964-B4EB-288C04F33FDF}" type="datetime1">
              <a:rPr lang="en-US" smtClean="0"/>
              <a:t>11/28/25</a:t>
            </a:fld>
            <a:endParaRPr lang="en-US"/>
          </a:p>
        </p:txBody>
      </p:sp>
      <p:sp>
        <p:nvSpPr>
          <p:cNvPr id="5" name="Footer Placeholder 4">
            <a:extLst>
              <a:ext uri="{FF2B5EF4-FFF2-40B4-BE49-F238E27FC236}">
                <a16:creationId xmlns:a16="http://schemas.microsoft.com/office/drawing/2014/main" id="{01DC365E-7914-C640-02DF-1D414DD5C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72403-8D85-BF77-CB95-14909FFC5AAC}"/>
              </a:ext>
            </a:extLst>
          </p:cNvPr>
          <p:cNvSpPr>
            <a:spLocks noGrp="1"/>
          </p:cNvSpPr>
          <p:nvPr>
            <p:ph type="sldNum" sz="quarter" idx="12"/>
          </p:nvPr>
        </p:nvSpPr>
        <p:spPr/>
        <p:txBody>
          <a:bodyPr/>
          <a:lstStyle/>
          <a:p>
            <a:fld id="{90AAF6A8-544F-BD41-B073-A39F11035981}" type="slidenum">
              <a:rPr lang="en-US" smtClean="0"/>
              <a:t>‹#›</a:t>
            </a:fld>
            <a:endParaRPr lang="en-US"/>
          </a:p>
        </p:txBody>
      </p:sp>
    </p:spTree>
    <p:extLst>
      <p:ext uri="{BB962C8B-B14F-4D97-AF65-F5344CB8AC3E}">
        <p14:creationId xmlns:p14="http://schemas.microsoft.com/office/powerpoint/2010/main" val="18634335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FC735C-58D2-F826-39CE-85CE62549D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456F625-78E0-5EC4-1DAA-DCC569ACBE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B3AF-A450-53F9-07B9-663411A84D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58EFFA-A9E9-4A43-805F-2561F46C49D2}" type="datetime1">
              <a:rPr lang="en-US" smtClean="0"/>
              <a:t>11/28/25</a:t>
            </a:fld>
            <a:endParaRPr lang="en-US"/>
          </a:p>
        </p:txBody>
      </p:sp>
      <p:sp>
        <p:nvSpPr>
          <p:cNvPr id="5" name="Footer Placeholder 4">
            <a:extLst>
              <a:ext uri="{FF2B5EF4-FFF2-40B4-BE49-F238E27FC236}">
                <a16:creationId xmlns:a16="http://schemas.microsoft.com/office/drawing/2014/main" id="{B7C772A6-30EB-D3FA-7E70-2898C6444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215E7E-698B-7AD9-BC16-3E20C907F9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AAF6A8-544F-BD41-B073-A39F11035981}" type="slidenum">
              <a:rPr lang="en-US" smtClean="0"/>
              <a:t>‹#›</a:t>
            </a:fld>
            <a:endParaRPr lang="en-US"/>
          </a:p>
        </p:txBody>
      </p:sp>
    </p:spTree>
    <p:extLst>
      <p:ext uri="{BB962C8B-B14F-4D97-AF65-F5344CB8AC3E}">
        <p14:creationId xmlns:p14="http://schemas.microsoft.com/office/powerpoint/2010/main" val="18557892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www.researchgate.net/publication/311919047_An_Experimental_and_Theoretical_Approach_to_Optimize_a_Three-Dimensional_Clinostat_for_Life_Science_Experiments?_tp=eyJjb250ZXh0Ijp7ImZpcnN0UGFnZSI6Il9kaXJlY3QiLCJwYWdlIjoicHVibGljYXRpb24ifX0"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wahabk/Clinostat" TargetMode="External"/><Relationship Id="rId3" Type="http://schemas.openxmlformats.org/officeDocument/2006/relationships/hyperlink" Target="https://www.riverpublishers.com/pdf/ebook/chapter/RP_9788793237544C14.pdf" TargetMode="External"/><Relationship Id="rId7" Type="http://schemas.openxmlformats.org/officeDocument/2006/relationships/hyperlink" Target="https://link.springer.com/protocol/10.1007/978-1-0716-1677-2_18"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www.researchgate.net/publication/290479023_Facilities_for_Simulation_of_Microgravity_in_the_ESA_Ground-Based_Facility_Programme?_tp=eyJjb250ZXh0Ijp7ImZpcnN0UGFnZSI6InB1YmxpY2F0aW9uIiwicGFnZSI6InB1YmxpY2F0aW9uIn19" TargetMode="External"/><Relationship Id="rId5" Type="http://schemas.openxmlformats.org/officeDocument/2006/relationships/hyperlink" Target="https://ntrs.nasa.gov/api/citations/20160013279/downloads/20160013279.pdf" TargetMode="External"/><Relationship Id="rId4" Type="http://schemas.openxmlformats.org/officeDocument/2006/relationships/hyperlink" Target="https://link.springer.com/content/pdf/10.1007/s12217-008-9043-2.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BF2E-A754-5202-8281-838764080FF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7BC0DF5-0610-7B06-FB92-0439F9E96D64}"/>
              </a:ext>
            </a:extLst>
          </p:cNvPr>
          <p:cNvSpPr>
            <a:spLocks/>
          </p:cNvSpPr>
          <p:nvPr/>
        </p:nvSpPr>
        <p:spPr>
          <a:xfrm>
            <a:off x="0" y="-110836"/>
            <a:ext cx="12192000" cy="6968835"/>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GB" sz="3000" b="1" noProof="0" dirty="0">
                <a:solidFill>
                  <a:schemeClr val="tx1"/>
                </a:solidFill>
                <a:latin typeface="Times New Roman" panose="02020603050405020304" pitchFamily="18" charset="0"/>
                <a:cs typeface="Times New Roman" panose="02020603050405020304" pitchFamily="18" charset="0"/>
              </a:rPr>
              <a:t>RANDOM POSITIONING MACHINE</a:t>
            </a:r>
          </a:p>
          <a:p>
            <a:pPr algn="ctr"/>
            <a:endParaRPr lang="en-GB" sz="2800" b="1" noProof="0" dirty="0">
              <a:solidFill>
                <a:schemeClr val="tx1"/>
              </a:solidFill>
              <a:latin typeface="Times New Roman" panose="02020603050405020304" pitchFamily="18" charset="0"/>
              <a:cs typeface="Times New Roman" panose="02020603050405020304" pitchFamily="18" charset="0"/>
            </a:endParaRPr>
          </a:p>
          <a:p>
            <a:r>
              <a:rPr lang="en-GB" sz="2800" b="1" dirty="0">
                <a:solidFill>
                  <a:schemeClr val="tx1"/>
                </a:solidFill>
                <a:latin typeface="Times New Roman" panose="02020603050405020304" pitchFamily="18" charset="0"/>
                <a:cs typeface="Times New Roman" panose="02020603050405020304" pitchFamily="18" charset="0"/>
              </a:rPr>
              <a:t>		     </a:t>
            </a:r>
            <a:r>
              <a:rPr lang="en-GB" noProof="0" dirty="0">
                <a:solidFill>
                  <a:schemeClr val="tx1"/>
                </a:solidFill>
                <a:latin typeface="Times New Roman" panose="02020603050405020304" pitchFamily="18" charset="0"/>
                <a:cs typeface="Times New Roman" panose="02020603050405020304" pitchFamily="18" charset="0"/>
              </a:rPr>
              <a:t>Project Guide : Dr. V S Sooraj</a:t>
            </a:r>
            <a:endParaRPr lang="en-GB" sz="2800" b="1" noProof="0" dirty="0">
              <a:solidFill>
                <a:schemeClr val="tx1"/>
              </a:solidFill>
              <a:latin typeface="Times New Roman" panose="02020603050405020304" pitchFamily="18" charset="0"/>
              <a:cs typeface="Times New Roman" panose="02020603050405020304" pitchFamily="18" charset="0"/>
            </a:endParaRPr>
          </a:p>
          <a:p>
            <a:r>
              <a:rPr lang="en-GB" noProof="0" dirty="0">
                <a:solidFill>
                  <a:schemeClr val="tx1"/>
                </a:solidFill>
                <a:latin typeface="Times New Roman" panose="02020603050405020304" pitchFamily="18" charset="0"/>
                <a:cs typeface="Times New Roman" panose="02020603050405020304" pitchFamily="18" charset="0"/>
              </a:rPr>
              <a:t>		        Presented by : M-Tech Manufacturing </a:t>
            </a:r>
            <a:r>
              <a:rPr lang="en-GB" dirty="0">
                <a:solidFill>
                  <a:schemeClr val="tx1"/>
                </a:solidFill>
                <a:latin typeface="Times New Roman" panose="02020603050405020304" pitchFamily="18" charset="0"/>
                <a:cs typeface="Times New Roman" panose="02020603050405020304" pitchFamily="18" charset="0"/>
              </a:rPr>
              <a:t>Technology | Batch of 2025 - 2027 </a:t>
            </a:r>
            <a:endParaRPr lang="en-GB" noProof="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34152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0C21D-C444-393B-2485-A4950E80EC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D7BB7AF-0E87-4E09-1EAA-1750596F806B}"/>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Systems for Microgravity Demonstration</a:t>
            </a:r>
          </a:p>
        </p:txBody>
      </p:sp>
      <p:sp>
        <p:nvSpPr>
          <p:cNvPr id="6" name="Rectangle 5">
            <a:extLst>
              <a:ext uri="{FF2B5EF4-FFF2-40B4-BE49-F238E27FC236}">
                <a16:creationId xmlns:a16="http://schemas.microsoft.com/office/drawing/2014/main" id="{E94AFAAC-BF4D-4785-F798-F78289CA752C}"/>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1 </a:t>
            </a:r>
          </a:p>
          <a:p>
            <a:pPr algn="r"/>
            <a:endParaRPr lang="en-GB" sz="1400" noProof="0" dirty="0"/>
          </a:p>
        </p:txBody>
      </p:sp>
      <p:sp>
        <p:nvSpPr>
          <p:cNvPr id="7" name="Rectangle 6">
            <a:extLst>
              <a:ext uri="{FF2B5EF4-FFF2-40B4-BE49-F238E27FC236}">
                <a16:creationId xmlns:a16="http://schemas.microsoft.com/office/drawing/2014/main" id="{FA577C17-7E93-8024-4FBC-7243388504E6}"/>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74BA7981-BB2D-B9CA-1FDD-ECF23EDAF159}"/>
              </a:ext>
            </a:extLst>
          </p:cNvPr>
          <p:cNvPicPr>
            <a:picLocks noChangeAspect="1"/>
          </p:cNvPicPr>
          <p:nvPr/>
        </p:nvPicPr>
        <p:blipFill>
          <a:blip r:embed="rId3"/>
          <a:srcRect b="50000"/>
          <a:stretch>
            <a:fillRect/>
          </a:stretch>
        </p:blipFill>
        <p:spPr>
          <a:xfrm>
            <a:off x="4645411" y="889219"/>
            <a:ext cx="3446262" cy="2539781"/>
          </a:xfrm>
          <a:prstGeom prst="rect">
            <a:avLst/>
          </a:prstGeom>
          <a:ln>
            <a:solidFill>
              <a:schemeClr val="tx1"/>
            </a:solidFill>
          </a:ln>
        </p:spPr>
      </p:pic>
      <p:pic>
        <p:nvPicPr>
          <p:cNvPr id="3" name="Picture 2">
            <a:extLst>
              <a:ext uri="{FF2B5EF4-FFF2-40B4-BE49-F238E27FC236}">
                <a16:creationId xmlns:a16="http://schemas.microsoft.com/office/drawing/2014/main" id="{A65B517F-43FA-28E9-E369-8A62BF421C67}"/>
              </a:ext>
            </a:extLst>
          </p:cNvPr>
          <p:cNvPicPr>
            <a:picLocks noChangeAspect="1"/>
          </p:cNvPicPr>
          <p:nvPr/>
        </p:nvPicPr>
        <p:blipFill>
          <a:blip r:embed="rId3"/>
          <a:srcRect t="50000"/>
          <a:stretch>
            <a:fillRect/>
          </a:stretch>
        </p:blipFill>
        <p:spPr>
          <a:xfrm>
            <a:off x="8612588" y="889219"/>
            <a:ext cx="3446262" cy="2539781"/>
          </a:xfrm>
          <a:prstGeom prst="rect">
            <a:avLst/>
          </a:prstGeom>
          <a:ln>
            <a:solidFill>
              <a:schemeClr val="tx1"/>
            </a:solidFill>
          </a:ln>
        </p:spPr>
      </p:pic>
      <p:sp>
        <p:nvSpPr>
          <p:cNvPr id="4" name="TextBox 3">
            <a:extLst>
              <a:ext uri="{FF2B5EF4-FFF2-40B4-BE49-F238E27FC236}">
                <a16:creationId xmlns:a16="http://schemas.microsoft.com/office/drawing/2014/main" id="{170E2D9B-9710-97E8-A55A-15C3B066A091}"/>
              </a:ext>
            </a:extLst>
          </p:cNvPr>
          <p:cNvSpPr txBox="1"/>
          <p:nvPr/>
        </p:nvSpPr>
        <p:spPr>
          <a:xfrm>
            <a:off x="217922" y="1155547"/>
            <a:ext cx="3459891" cy="1754326"/>
          </a:xfrm>
          <a:prstGeom prst="rect">
            <a:avLst/>
          </a:prstGeom>
          <a:noFill/>
        </p:spPr>
        <p:txBody>
          <a:bodyPr wrap="square" rtlCol="0">
            <a:spAutoFit/>
          </a:bodyPr>
          <a:lstStyle/>
          <a:p>
            <a:pPr marL="357187"/>
            <a:r>
              <a:rPr lang="en-GB" b="1" dirty="0">
                <a:latin typeface="Times New Roman" panose="02020603050405020304" pitchFamily="18" charset="0"/>
                <a:ea typeface="Tahoma" panose="020B0604030504040204" pitchFamily="34" charset="0"/>
                <a:cs typeface="Times New Roman" panose="02020603050405020304" pitchFamily="18" charset="0"/>
              </a:rPr>
              <a:t>2D Clinostat</a:t>
            </a:r>
            <a:endParaRPr lang="en-GB" dirty="0">
              <a:latin typeface="Times New Roman" panose="02020603050405020304" pitchFamily="18" charset="0"/>
              <a:ea typeface="Tahoma" panose="020B0604030504040204" pitchFamily="34" charset="0"/>
              <a:cs typeface="Times New Roman" panose="02020603050405020304" pitchFamily="18" charset="0"/>
            </a:endParaRP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Constant Speed</a:t>
            </a: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Single Frame Rotation</a:t>
            </a: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Rotation along Y-Axis</a:t>
            </a:r>
          </a:p>
          <a:p>
            <a:pPr marL="285750" indent="-285750">
              <a:buFont typeface="Wingdings" pitchFamily="2" charset="2"/>
              <a:buChar char="q"/>
            </a:pPr>
            <a:endParaRPr lang="en-GB" dirty="0">
              <a:latin typeface="Times New Roman" panose="02020603050405020304" pitchFamily="18" charset="0"/>
              <a:ea typeface="Tahoma" panose="020B0604030504040204" pitchFamily="34" charset="0"/>
              <a:cs typeface="Times New Roman" panose="02020603050405020304" pitchFamily="18" charset="0"/>
            </a:endParaRPr>
          </a:p>
          <a:p>
            <a:endParaRPr lang="en-US" dirty="0"/>
          </a:p>
        </p:txBody>
      </p:sp>
      <p:sp>
        <p:nvSpPr>
          <p:cNvPr id="9" name="TextBox 8">
            <a:extLst>
              <a:ext uri="{FF2B5EF4-FFF2-40B4-BE49-F238E27FC236}">
                <a16:creationId xmlns:a16="http://schemas.microsoft.com/office/drawing/2014/main" id="{68876CDF-0B6F-4B18-919A-E108F6111B3F}"/>
              </a:ext>
            </a:extLst>
          </p:cNvPr>
          <p:cNvSpPr txBox="1"/>
          <p:nvPr/>
        </p:nvSpPr>
        <p:spPr>
          <a:xfrm>
            <a:off x="4581403" y="3556219"/>
            <a:ext cx="3446262" cy="430887"/>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1B : </a:t>
            </a:r>
            <a:r>
              <a:rPr lang="en-IN" sz="1100" i="1" dirty="0">
                <a:latin typeface="Times New Roman" panose="02020603050405020304" pitchFamily="18" charset="0"/>
                <a:ea typeface="Tahoma" panose="020B0604030504040204" pitchFamily="34" charset="0"/>
                <a:cs typeface="Times New Roman" panose="02020603050405020304" pitchFamily="18" charset="0"/>
              </a:rPr>
              <a:t>Gravity values in a 2D clinostat mode. Y and Z</a:t>
            </a:r>
          </a:p>
          <a:p>
            <a:r>
              <a:rPr lang="en-IN" sz="1100" i="1" dirty="0">
                <a:latin typeface="Times New Roman" panose="02020603050405020304" pitchFamily="18" charset="0"/>
                <a:ea typeface="Tahoma" panose="020B0604030504040204" pitchFamily="34" charset="0"/>
                <a:cs typeface="Times New Roman" panose="02020603050405020304" pitchFamily="18" charset="0"/>
              </a:rPr>
              <a:t>are changing sinusoidal between +1 g and−1 g. </a:t>
            </a:r>
          </a:p>
        </p:txBody>
      </p:sp>
      <p:sp>
        <p:nvSpPr>
          <p:cNvPr id="10" name="TextBox 9">
            <a:extLst>
              <a:ext uri="{FF2B5EF4-FFF2-40B4-BE49-F238E27FC236}">
                <a16:creationId xmlns:a16="http://schemas.microsoft.com/office/drawing/2014/main" id="{72D71217-6476-DD90-6B90-E93FDFD88F64}"/>
              </a:ext>
            </a:extLst>
          </p:cNvPr>
          <p:cNvSpPr txBox="1"/>
          <p:nvPr/>
        </p:nvSpPr>
        <p:spPr>
          <a:xfrm>
            <a:off x="8612588" y="3556219"/>
            <a:ext cx="3446262" cy="938719"/>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1C : </a:t>
            </a:r>
            <a:r>
              <a:rPr lang="en-IN" sz="1100" i="1" dirty="0">
                <a:latin typeface="Times New Roman" panose="02020603050405020304" pitchFamily="18" charset="0"/>
                <a:cs typeface="Times New Roman" panose="02020603050405020304" pitchFamily="18" charset="0"/>
              </a:rPr>
              <a:t>The clinostat mode results in a 2D motion trajectory, in this graph projected on an imaginary sphere. The abscissa in </a:t>
            </a:r>
            <a:r>
              <a:rPr lang="en-IN" sz="1100" b="1" i="1" dirty="0">
                <a:latin typeface="Times New Roman" panose="02020603050405020304" pitchFamily="18" charset="0"/>
                <a:cs typeface="Times New Roman" panose="02020603050405020304" pitchFamily="18" charset="0"/>
              </a:rPr>
              <a:t>a</a:t>
            </a:r>
            <a:r>
              <a:rPr lang="en-IN" sz="1100" i="1" dirty="0">
                <a:latin typeface="Times New Roman" panose="02020603050405020304" pitchFamily="18" charset="0"/>
                <a:cs typeface="Times New Roman" panose="02020603050405020304" pitchFamily="18" charset="0"/>
              </a:rPr>
              <a:t> as well as the three axes in </a:t>
            </a:r>
            <a:r>
              <a:rPr lang="en-IN" sz="1100" b="1" i="1" dirty="0">
                <a:latin typeface="Times New Roman" panose="02020603050405020304" pitchFamily="18" charset="0"/>
                <a:cs typeface="Times New Roman" panose="02020603050405020304" pitchFamily="18" charset="0"/>
              </a:rPr>
              <a:t>b</a:t>
            </a:r>
            <a:r>
              <a:rPr lang="en-IN" sz="1100" i="1" dirty="0">
                <a:latin typeface="Times New Roman" panose="02020603050405020304" pitchFamily="18" charset="0"/>
                <a:cs typeface="Times New Roman" panose="02020603050405020304" pitchFamily="18" charset="0"/>
              </a:rPr>
              <a:t> are accelerations expressed as ‘g’. Time displayed in seconds is displayed at the ordinate in </a:t>
            </a:r>
            <a:r>
              <a:rPr lang="en-IN" sz="1100" b="1" i="1" dirty="0">
                <a:latin typeface="Times New Roman" panose="02020603050405020304" pitchFamily="18" charset="0"/>
                <a:cs typeface="Times New Roman" panose="02020603050405020304" pitchFamily="18" charset="0"/>
              </a:rPr>
              <a:t>b</a:t>
            </a:r>
          </a:p>
        </p:txBody>
      </p:sp>
      <p:sp>
        <p:nvSpPr>
          <p:cNvPr id="11" name="TextBox 10">
            <a:extLst>
              <a:ext uri="{FF2B5EF4-FFF2-40B4-BE49-F238E27FC236}">
                <a16:creationId xmlns:a16="http://schemas.microsoft.com/office/drawing/2014/main" id="{2EAF3FC0-A77D-AAAC-611E-7C2F581AE790}"/>
              </a:ext>
            </a:extLst>
          </p:cNvPr>
          <p:cNvSpPr txBox="1"/>
          <p:nvPr/>
        </p:nvSpPr>
        <p:spPr>
          <a:xfrm>
            <a:off x="747019" y="4932503"/>
            <a:ext cx="3446262" cy="261610"/>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1A : </a:t>
            </a:r>
            <a:r>
              <a:rPr lang="en-IN" sz="1100" i="1" dirty="0">
                <a:latin typeface="Times New Roman" panose="02020603050405020304" pitchFamily="18" charset="0"/>
                <a:ea typeface="Tahoma" panose="020B0604030504040204" pitchFamily="34" charset="0"/>
                <a:cs typeface="Times New Roman" panose="02020603050405020304" pitchFamily="18" charset="0"/>
              </a:rPr>
              <a:t>Operation of 2D Clinostat</a:t>
            </a:r>
          </a:p>
        </p:txBody>
      </p:sp>
      <p:pic>
        <p:nvPicPr>
          <p:cNvPr id="8" name="Picture 7">
            <a:extLst>
              <a:ext uri="{FF2B5EF4-FFF2-40B4-BE49-F238E27FC236}">
                <a16:creationId xmlns:a16="http://schemas.microsoft.com/office/drawing/2014/main" id="{8DB95CEB-78BE-1802-A7CD-BE5F06DF2978}"/>
              </a:ext>
            </a:extLst>
          </p:cNvPr>
          <p:cNvPicPr>
            <a:picLocks noChangeAspect="1"/>
          </p:cNvPicPr>
          <p:nvPr/>
        </p:nvPicPr>
        <p:blipFill>
          <a:blip r:embed="rId4"/>
          <a:srcRect t="22096" b="21874"/>
          <a:stretch>
            <a:fillRect/>
          </a:stretch>
        </p:blipFill>
        <p:spPr>
          <a:xfrm>
            <a:off x="217922" y="2587086"/>
            <a:ext cx="4053121" cy="2270934"/>
          </a:xfrm>
          <a:prstGeom prst="rect">
            <a:avLst/>
          </a:prstGeom>
          <a:ln>
            <a:solidFill>
              <a:schemeClr val="tx1"/>
            </a:solidFill>
          </a:ln>
        </p:spPr>
      </p:pic>
    </p:spTree>
    <p:extLst>
      <p:ext uri="{BB962C8B-B14F-4D97-AF65-F5344CB8AC3E}">
        <p14:creationId xmlns:p14="http://schemas.microsoft.com/office/powerpoint/2010/main" val="12228919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1A2F1-10C4-272E-5292-9D092804E3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B5905F3-D280-D153-E425-4562A9A6A679}"/>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Systems for Microgravity Demonstration</a:t>
            </a:r>
          </a:p>
        </p:txBody>
      </p:sp>
      <p:sp>
        <p:nvSpPr>
          <p:cNvPr id="6" name="Rectangle 5">
            <a:extLst>
              <a:ext uri="{FF2B5EF4-FFF2-40B4-BE49-F238E27FC236}">
                <a16:creationId xmlns:a16="http://schemas.microsoft.com/office/drawing/2014/main" id="{B5D94964-BB81-F175-540C-32F073A8EF12}"/>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a:t>
            </a:r>
            <a:r>
              <a:rPr lang="en-GB" sz="1400" b="1" dirty="0">
                <a:solidFill>
                  <a:schemeClr val="bg2"/>
                </a:solidFill>
                <a:latin typeface="Times New Roman" panose="02020603050405020304" pitchFamily="18" charset="0"/>
                <a:cs typeface="Times New Roman" panose="02020603050405020304" pitchFamily="18" charset="0"/>
              </a:rPr>
              <a:t>2</a:t>
            </a:r>
            <a:endParaRPr lang="en-GB" sz="1400" b="1" noProof="0" dirty="0">
              <a:solidFill>
                <a:schemeClr val="bg2"/>
              </a:solidFill>
              <a:latin typeface="Times New Roman" panose="02020603050405020304" pitchFamily="18" charset="0"/>
              <a:cs typeface="Times New Roman" panose="02020603050405020304" pitchFamily="18" charset="0"/>
            </a:endParaRPr>
          </a:p>
          <a:p>
            <a:pPr algn="r"/>
            <a:endParaRPr lang="en-GB" sz="1400" noProof="0" dirty="0"/>
          </a:p>
        </p:txBody>
      </p:sp>
      <p:sp>
        <p:nvSpPr>
          <p:cNvPr id="7" name="Rectangle 6">
            <a:extLst>
              <a:ext uri="{FF2B5EF4-FFF2-40B4-BE49-F238E27FC236}">
                <a16:creationId xmlns:a16="http://schemas.microsoft.com/office/drawing/2014/main" id="{D55BCE9C-B80F-FA60-2E38-21AAD99F9343}"/>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A624AC0-80C2-9472-4292-09FC5F2A7D2C}"/>
              </a:ext>
            </a:extLst>
          </p:cNvPr>
          <p:cNvSpPr txBox="1"/>
          <p:nvPr/>
        </p:nvSpPr>
        <p:spPr>
          <a:xfrm>
            <a:off x="217922" y="1155547"/>
            <a:ext cx="4294339" cy="1754326"/>
          </a:xfrm>
          <a:prstGeom prst="rect">
            <a:avLst/>
          </a:prstGeom>
          <a:noFill/>
        </p:spPr>
        <p:txBody>
          <a:bodyPr wrap="square" rtlCol="0">
            <a:spAutoFit/>
          </a:bodyPr>
          <a:lstStyle/>
          <a:p>
            <a:pPr marL="357187"/>
            <a:r>
              <a:rPr lang="en-GB" b="1" dirty="0">
                <a:latin typeface="Times New Roman" panose="02020603050405020304" pitchFamily="18" charset="0"/>
                <a:ea typeface="Tahoma" panose="020B0604030504040204" pitchFamily="34" charset="0"/>
                <a:cs typeface="Times New Roman" panose="02020603050405020304" pitchFamily="18" charset="0"/>
              </a:rPr>
              <a:t>3D Clinostat</a:t>
            </a:r>
            <a:endParaRPr lang="en-GB" dirty="0">
              <a:latin typeface="Times New Roman" panose="02020603050405020304" pitchFamily="18" charset="0"/>
              <a:ea typeface="Tahoma" panose="020B0604030504040204" pitchFamily="34" charset="0"/>
              <a:cs typeface="Times New Roman" panose="02020603050405020304" pitchFamily="18" charset="0"/>
            </a:endParaRP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Constant Speed</a:t>
            </a: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Two Axis/Frames Rotation</a:t>
            </a:r>
          </a:p>
          <a:p>
            <a:pPr marL="642937" indent="-285750">
              <a:buFont typeface="Arial" panose="020B0604020202020204" pitchFamily="34" charset="0"/>
              <a:buChar char="•"/>
            </a:pPr>
            <a:r>
              <a:rPr lang="en-GB" dirty="0" err="1">
                <a:latin typeface="Times New Roman" panose="02020603050405020304" pitchFamily="18" charset="0"/>
                <a:ea typeface="Tahoma" panose="020B0604030504040204" pitchFamily="34" charset="0"/>
                <a:cs typeface="Times New Roman" panose="02020603050405020304" pitchFamily="18" charset="0"/>
              </a:rPr>
              <a:t>Repetitve</a:t>
            </a:r>
            <a:r>
              <a:rPr lang="en-GB" dirty="0">
                <a:latin typeface="Times New Roman" panose="02020603050405020304" pitchFamily="18" charset="0"/>
                <a:ea typeface="Tahoma" panose="020B0604030504040204" pitchFamily="34" charset="0"/>
                <a:cs typeface="Times New Roman" panose="02020603050405020304" pitchFamily="18" charset="0"/>
              </a:rPr>
              <a:t> &amp; Predictable Trajectory</a:t>
            </a:r>
          </a:p>
          <a:p>
            <a:pPr marL="285750" indent="-285750">
              <a:buFont typeface="Wingdings" pitchFamily="2" charset="2"/>
              <a:buChar char="q"/>
            </a:pPr>
            <a:endParaRPr lang="en-GB" dirty="0">
              <a:latin typeface="Times New Roman" panose="02020603050405020304" pitchFamily="18" charset="0"/>
              <a:ea typeface="Tahoma" panose="020B0604030504040204" pitchFamily="34" charset="0"/>
              <a:cs typeface="Times New Roman" panose="02020603050405020304" pitchFamily="18" charset="0"/>
            </a:endParaRPr>
          </a:p>
          <a:p>
            <a:endParaRPr lang="en-US" dirty="0"/>
          </a:p>
        </p:txBody>
      </p:sp>
      <p:sp>
        <p:nvSpPr>
          <p:cNvPr id="9" name="TextBox 8">
            <a:extLst>
              <a:ext uri="{FF2B5EF4-FFF2-40B4-BE49-F238E27FC236}">
                <a16:creationId xmlns:a16="http://schemas.microsoft.com/office/drawing/2014/main" id="{74F54F58-16F4-83E1-98E2-6DCD86B92117}"/>
              </a:ext>
            </a:extLst>
          </p:cNvPr>
          <p:cNvSpPr txBox="1"/>
          <p:nvPr/>
        </p:nvSpPr>
        <p:spPr>
          <a:xfrm>
            <a:off x="4581403" y="3556219"/>
            <a:ext cx="3446262" cy="769441"/>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2B :</a:t>
            </a:r>
            <a:r>
              <a:rPr lang="en-IN" sz="1100" i="1" dirty="0">
                <a:latin typeface="Times New Roman" panose="02020603050405020304" pitchFamily="18" charset="0"/>
                <a:cs typeface="Times New Roman" panose="02020603050405020304" pitchFamily="18" charset="0"/>
              </a:rPr>
              <a:t>Gravity values measured on the RPM, rotated in 3D clinostat mode, the inner and outer frame rotate both at a constant speed of 60◦/s. </a:t>
            </a:r>
          </a:p>
          <a:p>
            <a:endParaRPr lang="en-IN" sz="1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E80160F-9696-EF8F-041A-34B7EF4B2AED}"/>
              </a:ext>
            </a:extLst>
          </p:cNvPr>
          <p:cNvSpPr txBox="1"/>
          <p:nvPr/>
        </p:nvSpPr>
        <p:spPr>
          <a:xfrm>
            <a:off x="8509064" y="3546278"/>
            <a:ext cx="3446262" cy="1107996"/>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2C : </a:t>
            </a:r>
            <a:r>
              <a:rPr lang="en-IN" sz="1100" i="1" dirty="0">
                <a:latin typeface="Times New Roman" panose="02020603050405020304" pitchFamily="18" charset="0"/>
                <a:cs typeface="Times New Roman" panose="02020603050405020304" pitchFamily="18" charset="0"/>
              </a:rPr>
              <a:t>Motion trajectory 3D clinostat mode with constant speed for both frames of 60◦/s, displayed on an imaginary sphere. The abscissa in </a:t>
            </a:r>
            <a:r>
              <a:rPr lang="en-IN" sz="1100" b="1" i="1" dirty="0">
                <a:latin typeface="Times New Roman" panose="02020603050405020304" pitchFamily="18" charset="0"/>
                <a:cs typeface="Times New Roman" panose="02020603050405020304" pitchFamily="18" charset="0"/>
              </a:rPr>
              <a:t>a</a:t>
            </a:r>
            <a:r>
              <a:rPr lang="en-IN" sz="1100" i="1" dirty="0">
                <a:latin typeface="Times New Roman" panose="02020603050405020304" pitchFamily="18" charset="0"/>
                <a:cs typeface="Times New Roman" panose="02020603050405020304" pitchFamily="18" charset="0"/>
              </a:rPr>
              <a:t> as well as the three axes in </a:t>
            </a:r>
            <a:r>
              <a:rPr lang="en-IN" sz="1100" b="1" i="1" dirty="0">
                <a:latin typeface="Times New Roman" panose="02020603050405020304" pitchFamily="18" charset="0"/>
                <a:cs typeface="Times New Roman" panose="02020603050405020304" pitchFamily="18" charset="0"/>
              </a:rPr>
              <a:t>b</a:t>
            </a:r>
            <a:r>
              <a:rPr lang="en-IN" sz="1100" i="1" dirty="0">
                <a:latin typeface="Times New Roman" panose="02020603050405020304" pitchFamily="18" charset="0"/>
                <a:cs typeface="Times New Roman" panose="02020603050405020304" pitchFamily="18" charset="0"/>
              </a:rPr>
              <a:t> are accelerations expressed as ‘g’. Time displayed in seconds is displayed at the ordinate in </a:t>
            </a:r>
            <a:r>
              <a:rPr lang="en-IN" sz="1100" b="1" i="1" dirty="0">
                <a:latin typeface="Times New Roman" panose="02020603050405020304" pitchFamily="18" charset="0"/>
                <a:cs typeface="Times New Roman" panose="02020603050405020304" pitchFamily="18" charset="0"/>
              </a:rPr>
              <a:t>b</a:t>
            </a:r>
          </a:p>
          <a:p>
            <a:endParaRPr lang="en-IN" sz="1100" b="1" i="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6EFD31B-851A-23D1-306C-A042BDFC367F}"/>
              </a:ext>
            </a:extLst>
          </p:cNvPr>
          <p:cNvSpPr txBox="1"/>
          <p:nvPr/>
        </p:nvSpPr>
        <p:spPr>
          <a:xfrm>
            <a:off x="747019" y="4932503"/>
            <a:ext cx="3446262" cy="261610"/>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2A : </a:t>
            </a:r>
            <a:r>
              <a:rPr lang="en-IN" sz="1100" i="1" dirty="0">
                <a:latin typeface="Times New Roman" panose="02020603050405020304" pitchFamily="18" charset="0"/>
                <a:ea typeface="Tahoma" panose="020B0604030504040204" pitchFamily="34" charset="0"/>
                <a:cs typeface="Times New Roman" panose="02020603050405020304" pitchFamily="18" charset="0"/>
              </a:rPr>
              <a:t>Operation of 3D Clinostat</a:t>
            </a:r>
          </a:p>
        </p:txBody>
      </p:sp>
      <p:pic>
        <p:nvPicPr>
          <p:cNvPr id="8" name="Picture 7">
            <a:extLst>
              <a:ext uri="{FF2B5EF4-FFF2-40B4-BE49-F238E27FC236}">
                <a16:creationId xmlns:a16="http://schemas.microsoft.com/office/drawing/2014/main" id="{5A8BD655-791C-28F8-696A-1B82184F4BEA}"/>
              </a:ext>
            </a:extLst>
          </p:cNvPr>
          <p:cNvPicPr>
            <a:picLocks noChangeAspect="1"/>
          </p:cNvPicPr>
          <p:nvPr/>
        </p:nvPicPr>
        <p:blipFill>
          <a:blip r:embed="rId5"/>
          <a:srcRect r="5" b="50755"/>
          <a:stretch>
            <a:fillRect/>
          </a:stretch>
        </p:blipFill>
        <p:spPr>
          <a:xfrm>
            <a:off x="4581404" y="881748"/>
            <a:ext cx="3443326" cy="2539781"/>
          </a:xfrm>
          <a:prstGeom prst="rect">
            <a:avLst/>
          </a:prstGeom>
          <a:ln>
            <a:solidFill>
              <a:schemeClr val="tx1"/>
            </a:solidFill>
          </a:ln>
        </p:spPr>
      </p:pic>
      <p:pic>
        <p:nvPicPr>
          <p:cNvPr id="12" name="Picture 11">
            <a:extLst>
              <a:ext uri="{FF2B5EF4-FFF2-40B4-BE49-F238E27FC236}">
                <a16:creationId xmlns:a16="http://schemas.microsoft.com/office/drawing/2014/main" id="{C16F9E50-38ED-4FE8-6DD4-FE804AC97CE8}"/>
              </a:ext>
            </a:extLst>
          </p:cNvPr>
          <p:cNvPicPr>
            <a:picLocks noChangeAspect="1"/>
          </p:cNvPicPr>
          <p:nvPr/>
        </p:nvPicPr>
        <p:blipFill rotWithShape="1">
          <a:blip r:embed="rId5"/>
          <a:srcRect l="868" t="49682" r="1428" b="4745"/>
          <a:stretch>
            <a:fillRect/>
          </a:stretch>
        </p:blipFill>
        <p:spPr>
          <a:xfrm>
            <a:off x="8509064" y="889219"/>
            <a:ext cx="3453454" cy="2539781"/>
          </a:xfrm>
          <a:prstGeom prst="rect">
            <a:avLst/>
          </a:prstGeom>
          <a:ln>
            <a:solidFill>
              <a:schemeClr val="tx1"/>
            </a:solidFill>
          </a:ln>
        </p:spPr>
      </p:pic>
      <p:pic>
        <p:nvPicPr>
          <p:cNvPr id="2" name="3D-CLINO - Made with Clipchamp">
            <a:hlinkClick r:id="" action="ppaction://media"/>
            <a:extLst>
              <a:ext uri="{FF2B5EF4-FFF2-40B4-BE49-F238E27FC236}">
                <a16:creationId xmlns:a16="http://schemas.microsoft.com/office/drawing/2014/main" id="{B3F7DBA4-6446-67A7-20C5-70492D13924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17923" y="2587086"/>
            <a:ext cx="4037216" cy="2270934"/>
          </a:xfrm>
          <a:prstGeom prst="rect">
            <a:avLst/>
          </a:prstGeom>
          <a:ln>
            <a:solidFill>
              <a:schemeClr val="tx1"/>
            </a:solidFill>
          </a:ln>
        </p:spPr>
      </p:pic>
    </p:spTree>
    <p:extLst>
      <p:ext uri="{BB962C8B-B14F-4D97-AF65-F5344CB8AC3E}">
        <p14:creationId xmlns:p14="http://schemas.microsoft.com/office/powerpoint/2010/main" val="8567515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2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fullScrn="1">
              <p:cMediaNode vol="80000">
                <p:cTn id="12"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C9470B6-C568-1986-C34C-F7A124B1E8CB}"/>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noProof="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Something to Visualize Further</a:t>
            </a:r>
          </a:p>
        </p:txBody>
      </p:sp>
      <p:sp>
        <p:nvSpPr>
          <p:cNvPr id="6" name="Rectangle 5">
            <a:extLst>
              <a:ext uri="{FF2B5EF4-FFF2-40B4-BE49-F238E27FC236}">
                <a16:creationId xmlns:a16="http://schemas.microsoft.com/office/drawing/2014/main" id="{7DADAEF6-F23C-2FCB-8EC4-AF7BD873D0B3}"/>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a:t>
            </a:r>
            <a:r>
              <a:rPr lang="en-GB" sz="1400" b="1" dirty="0">
                <a:solidFill>
                  <a:schemeClr val="bg2"/>
                </a:solidFill>
                <a:latin typeface="Times New Roman" panose="02020603050405020304" pitchFamily="18" charset="0"/>
                <a:cs typeface="Times New Roman" panose="02020603050405020304" pitchFamily="18" charset="0"/>
              </a:rPr>
              <a:t>3</a:t>
            </a:r>
            <a:endParaRPr lang="en-GB" sz="1400" b="1" noProof="0" dirty="0">
              <a:solidFill>
                <a:schemeClr val="bg2"/>
              </a:solidFill>
              <a:latin typeface="Times New Roman" panose="02020603050405020304" pitchFamily="18" charset="0"/>
              <a:cs typeface="Times New Roman" panose="02020603050405020304" pitchFamily="18" charset="0"/>
            </a:endParaRPr>
          </a:p>
          <a:p>
            <a:pPr algn="r"/>
            <a:endParaRPr lang="en-GB" sz="1400" noProof="0" dirty="0"/>
          </a:p>
        </p:txBody>
      </p:sp>
      <p:pic>
        <p:nvPicPr>
          <p:cNvPr id="2" name="Picture 1">
            <a:extLst>
              <a:ext uri="{FF2B5EF4-FFF2-40B4-BE49-F238E27FC236}">
                <a16:creationId xmlns:a16="http://schemas.microsoft.com/office/drawing/2014/main" id="{66A3ADE1-30F1-669B-1C81-A09FABFE2867}"/>
              </a:ext>
            </a:extLst>
          </p:cNvPr>
          <p:cNvPicPr>
            <a:picLocks noChangeAspect="1"/>
          </p:cNvPicPr>
          <p:nvPr/>
        </p:nvPicPr>
        <p:blipFill>
          <a:blip r:embed="rId3"/>
          <a:stretch>
            <a:fillRect/>
          </a:stretch>
        </p:blipFill>
        <p:spPr>
          <a:xfrm>
            <a:off x="582427" y="1248453"/>
            <a:ext cx="4384129" cy="2180547"/>
          </a:xfrm>
          <a:prstGeom prst="rect">
            <a:avLst/>
          </a:prstGeom>
          <a:ln>
            <a:solidFill>
              <a:schemeClr val="tx1"/>
            </a:solidFill>
          </a:ln>
        </p:spPr>
      </p:pic>
      <p:sp>
        <p:nvSpPr>
          <p:cNvPr id="4" name="TextBox 3">
            <a:extLst>
              <a:ext uri="{FF2B5EF4-FFF2-40B4-BE49-F238E27FC236}">
                <a16:creationId xmlns:a16="http://schemas.microsoft.com/office/drawing/2014/main" id="{E427F912-DC41-CF4A-3E85-F247DB1CF3EA}"/>
              </a:ext>
            </a:extLst>
          </p:cNvPr>
          <p:cNvSpPr txBox="1"/>
          <p:nvPr/>
        </p:nvSpPr>
        <p:spPr>
          <a:xfrm>
            <a:off x="582427" y="4159626"/>
            <a:ext cx="3388961" cy="769441"/>
          </a:xfrm>
          <a:prstGeom prst="rect">
            <a:avLst/>
          </a:prstGeom>
          <a:noFill/>
        </p:spPr>
        <p:txBody>
          <a:bodyPr wrap="square">
            <a:spAutoFit/>
          </a:bodyPr>
          <a:lstStyle/>
          <a:p>
            <a:r>
              <a:rPr lang="en-IN" sz="1100" b="0" i="1" u="none" strike="noStrike" dirty="0">
                <a:solidFill>
                  <a:srgbClr val="262626"/>
                </a:solidFill>
                <a:effectLst/>
                <a:latin typeface="Times New Roman" panose="02020603050405020304" pitchFamily="18" charset="0"/>
                <a:cs typeface="Times New Roman" panose="02020603050405020304" pitchFamily="18" charset="0"/>
              </a:rPr>
              <a:t>Fig</a:t>
            </a:r>
            <a:r>
              <a:rPr lang="en-IN" sz="1100" i="1" dirty="0">
                <a:solidFill>
                  <a:srgbClr val="262626"/>
                </a:solidFill>
                <a:latin typeface="Times New Roman" panose="02020603050405020304" pitchFamily="18" charset="0"/>
                <a:cs typeface="Times New Roman" panose="02020603050405020304" pitchFamily="18" charset="0"/>
              </a:rPr>
              <a:t> </a:t>
            </a:r>
            <a:r>
              <a:rPr lang="en-IN" sz="1100" b="0" i="1" u="none" strike="noStrike" dirty="0">
                <a:solidFill>
                  <a:srgbClr val="262626"/>
                </a:solidFill>
                <a:effectLst/>
                <a:latin typeface="Times New Roman" panose="02020603050405020304" pitchFamily="18" charset="0"/>
                <a:cs typeface="Times New Roman" panose="02020603050405020304" pitchFamily="18" charset="0"/>
              </a:rPr>
              <a:t>:</a:t>
            </a:r>
            <a:r>
              <a:rPr lang="en-IN" sz="1100" i="1" dirty="0">
                <a:solidFill>
                  <a:srgbClr val="262626"/>
                </a:solidFill>
                <a:latin typeface="Times New Roman" panose="02020603050405020304" pitchFamily="18" charset="0"/>
                <a:cs typeface="Times New Roman" panose="02020603050405020304" pitchFamily="18" charset="0"/>
              </a:rPr>
              <a:t> </a:t>
            </a:r>
            <a:r>
              <a:rPr lang="en-IN" sz="1100" b="0" i="1" u="none" strike="noStrike" dirty="0">
                <a:solidFill>
                  <a:srgbClr val="262626"/>
                </a:solidFill>
                <a:effectLst/>
                <a:latin typeface="Times New Roman" panose="02020603050405020304" pitchFamily="18" charset="0"/>
                <a:cs typeface="Times New Roman" panose="02020603050405020304" pitchFamily="18" charset="0"/>
              </a:rPr>
              <a:t>Representation of the rotational movement of a 2-D Clinostat.</a:t>
            </a:r>
            <a:br>
              <a:rPr lang="en-IN" sz="1100" b="0" i="1" u="none" strike="noStrike" dirty="0">
                <a:solidFill>
                  <a:srgbClr val="262626"/>
                </a:solidFill>
                <a:effectLst/>
                <a:latin typeface="Times New Roman" panose="02020603050405020304" pitchFamily="18" charset="0"/>
                <a:cs typeface="Times New Roman" panose="02020603050405020304" pitchFamily="18" charset="0"/>
              </a:rPr>
            </a:br>
            <a:br>
              <a:rPr lang="en-IN" sz="1100" b="0" i="1" u="none" strike="noStrike" dirty="0">
                <a:solidFill>
                  <a:srgbClr val="262626"/>
                </a:solidFill>
                <a:effectLst/>
                <a:latin typeface="Times New Roman" panose="02020603050405020304" pitchFamily="18" charset="0"/>
                <a:cs typeface="Times New Roman" panose="02020603050405020304" pitchFamily="18" charset="0"/>
              </a:rPr>
            </a:br>
            <a:endParaRPr lang="en-US" sz="1100" i="1" dirty="0">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1B854EC1-2534-370C-79E2-0F85DB11BEEF}"/>
              </a:ext>
            </a:extLst>
          </p:cNvPr>
          <p:cNvSpPr>
            <a:spLocks noChangeArrowheads="1"/>
          </p:cNvSpPr>
          <p:nvPr/>
        </p:nvSpPr>
        <p:spPr bwMode="auto">
          <a:xfrm>
            <a:off x="0" y="-115416"/>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Times"/>
              </a:rPr>
              <a:t>x</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344A42E7-5054-079B-4EEA-5619D45AAE64}"/>
              </a:ext>
            </a:extLst>
          </p:cNvPr>
          <p:cNvSpPr txBox="1"/>
          <p:nvPr/>
        </p:nvSpPr>
        <p:spPr>
          <a:xfrm>
            <a:off x="582427" y="4739391"/>
            <a:ext cx="3819906" cy="600164"/>
          </a:xfrm>
          <a:prstGeom prst="rect">
            <a:avLst/>
          </a:prstGeom>
          <a:noFill/>
        </p:spPr>
        <p:txBody>
          <a:bodyPr wrap="square">
            <a:spAutoFit/>
          </a:bodyPr>
          <a:lstStyle/>
          <a:p>
            <a:r>
              <a:rPr lang="en-US" sz="1100" i="1" dirty="0">
                <a:latin typeface="Times New Roman" panose="02020603050405020304" pitchFamily="18" charset="0"/>
                <a:cs typeface="Times New Roman" panose="02020603050405020304" pitchFamily="18" charset="0"/>
              </a:rPr>
              <a:t>Adapted From : United Nations, 2013, Teacher’s Guide to Plant </a:t>
            </a:r>
            <a:r>
              <a:rPr lang="en-US" sz="1100" i="1" dirty="0" err="1">
                <a:latin typeface="Times New Roman" panose="02020603050405020304" pitchFamily="18" charset="0"/>
                <a:cs typeface="Times New Roman" panose="02020603050405020304" pitchFamily="18" charset="0"/>
              </a:rPr>
              <a:t>Experimentsin</a:t>
            </a:r>
            <a:r>
              <a:rPr lang="en-US" sz="1100" i="1" dirty="0">
                <a:latin typeface="Times New Roman" panose="02020603050405020304" pitchFamily="18" charset="0"/>
                <a:cs typeface="Times New Roman" panose="02020603050405020304" pitchFamily="18" charset="0"/>
              </a:rPr>
              <a:t> Micro-g. </a:t>
            </a:r>
            <a:r>
              <a:rPr lang="en-US" sz="1100" i="1" dirty="0" err="1">
                <a:latin typeface="Times New Roman" panose="02020603050405020304" pitchFamily="18" charset="0"/>
                <a:cs typeface="Times New Roman" panose="02020603050405020304" pitchFamily="18" charset="0"/>
              </a:rPr>
              <a:t>UNOOSA,Newpace</a:t>
            </a:r>
            <a:r>
              <a:rPr lang="en-US" sz="1100" i="1" dirty="0">
                <a:latin typeface="Times New Roman" panose="02020603050405020304" pitchFamily="18" charset="0"/>
                <a:cs typeface="Times New Roman" panose="02020603050405020304" pitchFamily="18" charset="0"/>
              </a:rPr>
              <a:t> Applications. </a:t>
            </a:r>
            <a:r>
              <a:rPr lang="en-US" sz="1100" i="1" dirty="0" err="1">
                <a:latin typeface="Times New Roman" panose="02020603050405020304" pitchFamily="18" charset="0"/>
                <a:cs typeface="Times New Roman" panose="02020603050405020304" pitchFamily="18" charset="0"/>
              </a:rPr>
              <a:t>UNOOSA,New</a:t>
            </a:r>
            <a:r>
              <a:rPr lang="en-US" sz="1100" i="1" dirty="0">
                <a:latin typeface="Times New Roman" panose="02020603050405020304" pitchFamily="18" charset="0"/>
                <a:cs typeface="Times New Roman" panose="02020603050405020304" pitchFamily="18" charset="0"/>
              </a:rPr>
              <a:t> York. 45 p</a:t>
            </a:r>
          </a:p>
        </p:txBody>
      </p:sp>
      <p:pic>
        <p:nvPicPr>
          <p:cNvPr id="1032" name="Picture 8">
            <a:extLst>
              <a:ext uri="{FF2B5EF4-FFF2-40B4-BE49-F238E27FC236}">
                <a16:creationId xmlns:a16="http://schemas.microsoft.com/office/drawing/2014/main" id="{52C6B2CE-0FF8-22DF-A6B7-76473C8A5F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0642" y="1244111"/>
            <a:ext cx="4384128" cy="389539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009E787-C407-8E50-04F5-57693141D7FE}"/>
              </a:ext>
            </a:extLst>
          </p:cNvPr>
          <p:cNvSpPr txBox="1"/>
          <p:nvPr/>
        </p:nvSpPr>
        <p:spPr>
          <a:xfrm>
            <a:off x="5850642" y="5182915"/>
            <a:ext cx="4821952" cy="1308050"/>
          </a:xfrm>
          <a:prstGeom prst="rect">
            <a:avLst/>
          </a:prstGeom>
          <a:noFill/>
        </p:spPr>
        <p:txBody>
          <a:bodyPr wrap="square">
            <a:spAutoFit/>
          </a:bodyPr>
          <a:lstStyle/>
          <a:p>
            <a:r>
              <a:rPr lang="en-IN" sz="1100" b="0" i="1" u="none" strike="noStrike" dirty="0">
                <a:solidFill>
                  <a:srgbClr val="262626"/>
                </a:solidFill>
                <a:effectLst/>
                <a:latin typeface="Times New Roman" panose="02020603050405020304" pitchFamily="18" charset="0"/>
                <a:cs typeface="Times New Roman" panose="02020603050405020304" pitchFamily="18" charset="0"/>
              </a:rPr>
              <a:t>Fig: A 3D clinostat can produce different patterns of motion by varying the revolution. The rotational speed of the primary axis was fixed, while the speed of the second axis varied as shown in the figure. The data of the 3D acceleration sensor were recorded for five minutes and are shown in the 3D graph</a:t>
            </a:r>
          </a:p>
          <a:p>
            <a:endParaRPr lang="en-IN" sz="1100" i="1" dirty="0">
              <a:solidFill>
                <a:srgbClr val="262626"/>
              </a:solidFill>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hlinkClick r:id="rId5"/>
              </a:rPr>
              <a:t>An Experimental and Theoretical Approach to Optimize a Three-Dimensional Clinostat for Life Science Experiments</a:t>
            </a:r>
            <a:endParaRPr lang="en-US"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2915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D64C-7F61-6C23-A47C-D29BE33B58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7AE44D-9E0A-DBC4-4DAA-91CA3E950BC3}"/>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Systems for Microgravity Demonstration</a:t>
            </a:r>
          </a:p>
        </p:txBody>
      </p:sp>
      <p:sp>
        <p:nvSpPr>
          <p:cNvPr id="6" name="Rectangle 5">
            <a:extLst>
              <a:ext uri="{FF2B5EF4-FFF2-40B4-BE49-F238E27FC236}">
                <a16:creationId xmlns:a16="http://schemas.microsoft.com/office/drawing/2014/main" id="{3E5DE1F6-E6ED-34CE-B7B9-405D0BF94210}"/>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a:t>
            </a:r>
            <a:r>
              <a:rPr lang="en-GB" sz="1400" b="1" dirty="0">
                <a:solidFill>
                  <a:schemeClr val="bg2"/>
                </a:solidFill>
                <a:latin typeface="Times New Roman" panose="02020603050405020304" pitchFamily="18" charset="0"/>
                <a:cs typeface="Times New Roman" panose="02020603050405020304" pitchFamily="18" charset="0"/>
              </a:rPr>
              <a:t>4</a:t>
            </a:r>
            <a:endParaRPr lang="en-GB" sz="1400" b="1" noProof="0" dirty="0">
              <a:solidFill>
                <a:schemeClr val="bg2"/>
              </a:solidFill>
              <a:latin typeface="Times New Roman" panose="02020603050405020304" pitchFamily="18" charset="0"/>
              <a:cs typeface="Times New Roman" panose="02020603050405020304" pitchFamily="18" charset="0"/>
            </a:endParaRPr>
          </a:p>
          <a:p>
            <a:pPr algn="r"/>
            <a:endParaRPr lang="en-GB" sz="1400" noProof="0" dirty="0"/>
          </a:p>
        </p:txBody>
      </p:sp>
      <p:sp>
        <p:nvSpPr>
          <p:cNvPr id="7" name="Rectangle 6">
            <a:extLst>
              <a:ext uri="{FF2B5EF4-FFF2-40B4-BE49-F238E27FC236}">
                <a16:creationId xmlns:a16="http://schemas.microsoft.com/office/drawing/2014/main" id="{BCD49249-5F94-9666-B32E-F47712C3B453}"/>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6BB31FC-D682-0C85-652C-28583976BBEA}"/>
              </a:ext>
            </a:extLst>
          </p:cNvPr>
          <p:cNvSpPr txBox="1"/>
          <p:nvPr/>
        </p:nvSpPr>
        <p:spPr>
          <a:xfrm>
            <a:off x="217922" y="1155547"/>
            <a:ext cx="4116334" cy="2862322"/>
          </a:xfrm>
          <a:prstGeom prst="rect">
            <a:avLst/>
          </a:prstGeom>
          <a:noFill/>
        </p:spPr>
        <p:txBody>
          <a:bodyPr wrap="square" rtlCol="0">
            <a:spAutoFit/>
          </a:bodyPr>
          <a:lstStyle/>
          <a:p>
            <a:pPr marL="357187"/>
            <a:r>
              <a:rPr lang="en-GB" b="1" dirty="0">
                <a:latin typeface="Times New Roman" panose="02020603050405020304" pitchFamily="18" charset="0"/>
                <a:ea typeface="Tahoma" panose="020B0604030504040204" pitchFamily="34" charset="0"/>
                <a:cs typeface="Times New Roman" panose="02020603050405020304" pitchFamily="18" charset="0"/>
              </a:rPr>
              <a:t>RPM</a:t>
            </a:r>
            <a:endParaRPr lang="en-GB" dirty="0">
              <a:latin typeface="Times New Roman" panose="02020603050405020304" pitchFamily="18" charset="0"/>
              <a:ea typeface="Tahoma" panose="020B0604030504040204" pitchFamily="34" charset="0"/>
              <a:cs typeface="Times New Roman" panose="02020603050405020304" pitchFamily="18" charset="0"/>
            </a:endParaRP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Random Mode in both Direction &amp; Speed </a:t>
            </a: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 Relate by Random Walk</a:t>
            </a:r>
          </a:p>
          <a:p>
            <a:pPr marL="642937" indent="-285750">
              <a:buFont typeface="Arial" panose="020B0604020202020204" pitchFamily="34" charset="0"/>
              <a:buChar char="•"/>
            </a:pPr>
            <a:r>
              <a:rPr lang="en-GB" dirty="0">
                <a:latin typeface="Times New Roman" panose="02020603050405020304" pitchFamily="18" charset="0"/>
                <a:ea typeface="Tahoma" panose="020B0604030504040204" pitchFamily="34" charset="0"/>
                <a:cs typeface="Times New Roman" panose="02020603050405020304" pitchFamily="18" charset="0"/>
              </a:rPr>
              <a:t>Necessitates Centre-Placement for Limiting the Centripetal Acceleration induced (needs further study?)</a:t>
            </a:r>
          </a:p>
          <a:p>
            <a:pPr marL="285750" indent="-285750">
              <a:buFont typeface="Wingdings" pitchFamily="2" charset="2"/>
              <a:buChar char="q"/>
            </a:pPr>
            <a:endParaRPr lang="en-GB" dirty="0">
              <a:latin typeface="Times New Roman" panose="02020603050405020304" pitchFamily="18" charset="0"/>
              <a:ea typeface="Tahoma" panose="020B0604030504040204" pitchFamily="34" charset="0"/>
              <a:cs typeface="Times New Roman" panose="02020603050405020304" pitchFamily="18" charset="0"/>
            </a:endParaRPr>
          </a:p>
          <a:p>
            <a:endParaRPr lang="en-US" dirty="0"/>
          </a:p>
        </p:txBody>
      </p:sp>
      <p:sp>
        <p:nvSpPr>
          <p:cNvPr id="9" name="TextBox 8">
            <a:extLst>
              <a:ext uri="{FF2B5EF4-FFF2-40B4-BE49-F238E27FC236}">
                <a16:creationId xmlns:a16="http://schemas.microsoft.com/office/drawing/2014/main" id="{5CACDA3C-7CC3-3442-2405-70B9DC0D9542}"/>
              </a:ext>
            </a:extLst>
          </p:cNvPr>
          <p:cNvSpPr txBox="1"/>
          <p:nvPr/>
        </p:nvSpPr>
        <p:spPr>
          <a:xfrm>
            <a:off x="4581403" y="3556219"/>
            <a:ext cx="3446262" cy="769441"/>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3B : </a:t>
            </a:r>
            <a:r>
              <a:rPr lang="en-IN" sz="1100" i="1" dirty="0">
                <a:latin typeface="Times New Roman" panose="02020603050405020304" pitchFamily="18" charset="0"/>
                <a:cs typeface="Times New Roman" panose="02020603050405020304" pitchFamily="18" charset="0"/>
              </a:rPr>
              <a:t>Gravity values measured on the RPM, rotated in random speed and random direction mode, the inner and outer frame rotate (in this example) are at a varying speed between 60–120◦/s.</a:t>
            </a:r>
          </a:p>
        </p:txBody>
      </p:sp>
      <p:sp>
        <p:nvSpPr>
          <p:cNvPr id="10" name="TextBox 9">
            <a:extLst>
              <a:ext uri="{FF2B5EF4-FFF2-40B4-BE49-F238E27FC236}">
                <a16:creationId xmlns:a16="http://schemas.microsoft.com/office/drawing/2014/main" id="{DE639A87-1510-0BB8-2A46-786786C0B08D}"/>
              </a:ext>
            </a:extLst>
          </p:cNvPr>
          <p:cNvSpPr txBox="1"/>
          <p:nvPr/>
        </p:nvSpPr>
        <p:spPr>
          <a:xfrm>
            <a:off x="8612588" y="3556219"/>
            <a:ext cx="3446262" cy="938719"/>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3C : </a:t>
            </a:r>
            <a:r>
              <a:rPr lang="en-IN" sz="1100" i="1" dirty="0">
                <a:latin typeface="Times New Roman" panose="02020603050405020304" pitchFamily="18" charset="0"/>
                <a:cs typeface="Times New Roman" panose="02020603050405020304" pitchFamily="18" charset="0"/>
              </a:rPr>
              <a:t>b Motion trajectory in random speed and random direction mode, displayed on an imaginary sphere. The abscissa in </a:t>
            </a:r>
            <a:r>
              <a:rPr lang="en-IN" sz="1100" b="1" i="1" dirty="0">
                <a:latin typeface="Times New Roman" panose="02020603050405020304" pitchFamily="18" charset="0"/>
                <a:cs typeface="Times New Roman" panose="02020603050405020304" pitchFamily="18" charset="0"/>
              </a:rPr>
              <a:t>a</a:t>
            </a:r>
            <a:r>
              <a:rPr lang="en-IN" sz="1100" i="1" dirty="0">
                <a:latin typeface="Times New Roman" panose="02020603050405020304" pitchFamily="18" charset="0"/>
                <a:cs typeface="Times New Roman" panose="02020603050405020304" pitchFamily="18" charset="0"/>
              </a:rPr>
              <a:t> as well as the three axes in </a:t>
            </a:r>
            <a:r>
              <a:rPr lang="en-IN" sz="1100" b="1" i="1" dirty="0">
                <a:latin typeface="Times New Roman" panose="02020603050405020304" pitchFamily="18" charset="0"/>
                <a:cs typeface="Times New Roman" panose="02020603050405020304" pitchFamily="18" charset="0"/>
              </a:rPr>
              <a:t>b</a:t>
            </a:r>
            <a:r>
              <a:rPr lang="en-IN" sz="1100" i="1" dirty="0">
                <a:latin typeface="Times New Roman" panose="02020603050405020304" pitchFamily="18" charset="0"/>
                <a:cs typeface="Times New Roman" panose="02020603050405020304" pitchFamily="18" charset="0"/>
              </a:rPr>
              <a:t> are accelerations expressed as ‘g’. Time displayed in seconds is displayed at the ordinate in </a:t>
            </a:r>
            <a:r>
              <a:rPr lang="en-IN" sz="1100" b="1" i="1" dirty="0">
                <a:latin typeface="Times New Roman" panose="02020603050405020304" pitchFamily="18" charset="0"/>
                <a:cs typeface="Times New Roman" panose="02020603050405020304" pitchFamily="18" charset="0"/>
              </a:rPr>
              <a:t>b</a:t>
            </a:r>
          </a:p>
        </p:txBody>
      </p:sp>
      <p:pic>
        <p:nvPicPr>
          <p:cNvPr id="8" name="Picture 7">
            <a:extLst>
              <a:ext uri="{FF2B5EF4-FFF2-40B4-BE49-F238E27FC236}">
                <a16:creationId xmlns:a16="http://schemas.microsoft.com/office/drawing/2014/main" id="{ACAFB546-0B9E-2840-BFB5-A3E5D9A785C1}"/>
              </a:ext>
            </a:extLst>
          </p:cNvPr>
          <p:cNvPicPr>
            <a:picLocks noChangeAspect="1"/>
          </p:cNvPicPr>
          <p:nvPr/>
        </p:nvPicPr>
        <p:blipFill>
          <a:blip r:embed="rId3"/>
          <a:srcRect t="51067"/>
          <a:stretch>
            <a:fillRect/>
          </a:stretch>
        </p:blipFill>
        <p:spPr>
          <a:xfrm>
            <a:off x="8577666" y="889218"/>
            <a:ext cx="3481184" cy="2539781"/>
          </a:xfrm>
          <a:prstGeom prst="rect">
            <a:avLst/>
          </a:prstGeom>
          <a:ln>
            <a:solidFill>
              <a:schemeClr val="tx1"/>
            </a:solidFill>
          </a:ln>
        </p:spPr>
      </p:pic>
      <p:pic>
        <p:nvPicPr>
          <p:cNvPr id="12" name="Picture 11">
            <a:extLst>
              <a:ext uri="{FF2B5EF4-FFF2-40B4-BE49-F238E27FC236}">
                <a16:creationId xmlns:a16="http://schemas.microsoft.com/office/drawing/2014/main" id="{946CE30D-CB65-5ABA-4765-5C9554B22239}"/>
              </a:ext>
            </a:extLst>
          </p:cNvPr>
          <p:cNvPicPr>
            <a:picLocks noChangeAspect="1"/>
          </p:cNvPicPr>
          <p:nvPr/>
        </p:nvPicPr>
        <p:blipFill>
          <a:blip r:embed="rId3"/>
          <a:srcRect b="51067"/>
          <a:stretch>
            <a:fillRect/>
          </a:stretch>
        </p:blipFill>
        <p:spPr>
          <a:xfrm>
            <a:off x="4581403" y="889217"/>
            <a:ext cx="3481184" cy="2539781"/>
          </a:xfrm>
          <a:prstGeom prst="rect">
            <a:avLst/>
          </a:prstGeom>
          <a:ln>
            <a:solidFill>
              <a:schemeClr val="tx1"/>
            </a:solidFill>
          </a:ln>
        </p:spPr>
      </p:pic>
    </p:spTree>
    <p:extLst>
      <p:ext uri="{BB962C8B-B14F-4D97-AF65-F5344CB8AC3E}">
        <p14:creationId xmlns:p14="http://schemas.microsoft.com/office/powerpoint/2010/main" val="3093607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69ED-CA17-72BA-D4AA-968500793D2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E12AF3-FD16-B46D-AF7D-6FDE91C6D901}"/>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CAD Designs</a:t>
            </a:r>
          </a:p>
        </p:txBody>
      </p:sp>
      <p:sp>
        <p:nvSpPr>
          <p:cNvPr id="6" name="Rectangle 5">
            <a:extLst>
              <a:ext uri="{FF2B5EF4-FFF2-40B4-BE49-F238E27FC236}">
                <a16:creationId xmlns:a16="http://schemas.microsoft.com/office/drawing/2014/main" id="{39F713F6-443C-B96A-7F42-87238F672E3B}"/>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a:t>
            </a:r>
            <a:r>
              <a:rPr lang="en-GB" sz="1400" b="1" dirty="0">
                <a:solidFill>
                  <a:srgbClr val="E8E8E8"/>
                </a:solidFill>
                <a:latin typeface="Times New Roman" panose="02020603050405020304" pitchFamily="18" charset="0"/>
                <a:cs typeface="Times New Roman" panose="02020603050405020304" pitchFamily="18" charset="0"/>
              </a:rPr>
              <a:t>5</a:t>
            </a:r>
            <a:endPar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C7E118B-A07F-E705-FDEA-1000469F520D}"/>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86FFCE37-19C6-29EE-AB3E-BED6F24C7261}"/>
              </a:ext>
            </a:extLst>
          </p:cNvPr>
          <p:cNvPicPr>
            <a:picLocks noChangeAspect="1"/>
          </p:cNvPicPr>
          <p:nvPr/>
        </p:nvPicPr>
        <p:blipFill>
          <a:blip r:embed="rId3"/>
          <a:stretch>
            <a:fillRect/>
          </a:stretch>
        </p:blipFill>
        <p:spPr>
          <a:xfrm>
            <a:off x="256075" y="1937690"/>
            <a:ext cx="3888088" cy="2982619"/>
          </a:xfrm>
          <a:prstGeom prst="rect">
            <a:avLst/>
          </a:prstGeom>
          <a:ln w="19050">
            <a:solidFill>
              <a:schemeClr val="tx1"/>
            </a:solidFill>
          </a:ln>
        </p:spPr>
      </p:pic>
      <p:sp>
        <p:nvSpPr>
          <p:cNvPr id="9" name="TextBox 8">
            <a:extLst>
              <a:ext uri="{FF2B5EF4-FFF2-40B4-BE49-F238E27FC236}">
                <a16:creationId xmlns:a16="http://schemas.microsoft.com/office/drawing/2014/main" id="{D50C8844-513A-B55D-FD1C-6D162628FD14}"/>
              </a:ext>
            </a:extLst>
          </p:cNvPr>
          <p:cNvSpPr txBox="1"/>
          <p:nvPr/>
        </p:nvSpPr>
        <p:spPr>
          <a:xfrm>
            <a:off x="897128" y="5083797"/>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4A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of the Complete Assembly</a:t>
            </a:r>
          </a:p>
        </p:txBody>
      </p:sp>
      <p:sp>
        <p:nvSpPr>
          <p:cNvPr id="14" name="TextBox 13">
            <a:extLst>
              <a:ext uri="{FF2B5EF4-FFF2-40B4-BE49-F238E27FC236}">
                <a16:creationId xmlns:a16="http://schemas.microsoft.com/office/drawing/2014/main" id="{A20902AA-F0D5-6836-3D27-837AB0C07F2A}"/>
              </a:ext>
            </a:extLst>
          </p:cNvPr>
          <p:cNvSpPr txBox="1"/>
          <p:nvPr/>
        </p:nvSpPr>
        <p:spPr>
          <a:xfrm>
            <a:off x="5223784" y="5133971"/>
            <a:ext cx="277313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4B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of the Payload Sub-Assembly</a:t>
            </a:r>
          </a:p>
        </p:txBody>
      </p:sp>
      <p:pic>
        <p:nvPicPr>
          <p:cNvPr id="15" name="Picture 14">
            <a:extLst>
              <a:ext uri="{FF2B5EF4-FFF2-40B4-BE49-F238E27FC236}">
                <a16:creationId xmlns:a16="http://schemas.microsoft.com/office/drawing/2014/main" id="{BD48BDB5-5581-24E2-0CB3-9590DB58FD9C}"/>
              </a:ext>
            </a:extLst>
          </p:cNvPr>
          <p:cNvPicPr>
            <a:picLocks noChangeAspect="1"/>
          </p:cNvPicPr>
          <p:nvPr/>
        </p:nvPicPr>
        <p:blipFill>
          <a:blip r:embed="rId4"/>
          <a:stretch>
            <a:fillRect/>
          </a:stretch>
        </p:blipFill>
        <p:spPr>
          <a:xfrm>
            <a:off x="4889657" y="1900131"/>
            <a:ext cx="3391524" cy="3057736"/>
          </a:xfrm>
          <a:prstGeom prst="rect">
            <a:avLst/>
          </a:prstGeom>
          <a:ln w="19050">
            <a:solidFill>
              <a:schemeClr val="tx1"/>
            </a:solidFill>
          </a:ln>
        </p:spPr>
      </p:pic>
      <p:sp>
        <p:nvSpPr>
          <p:cNvPr id="16" name="TextBox 15">
            <a:extLst>
              <a:ext uri="{FF2B5EF4-FFF2-40B4-BE49-F238E27FC236}">
                <a16:creationId xmlns:a16="http://schemas.microsoft.com/office/drawing/2014/main" id="{D64163D1-A85A-DAF3-FB71-7B025502FA8C}"/>
              </a:ext>
            </a:extLst>
          </p:cNvPr>
          <p:cNvSpPr txBox="1"/>
          <p:nvPr/>
        </p:nvSpPr>
        <p:spPr>
          <a:xfrm>
            <a:off x="9418869" y="5133971"/>
            <a:ext cx="277313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4C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of the Payload</a:t>
            </a:r>
          </a:p>
        </p:txBody>
      </p:sp>
      <p:pic>
        <p:nvPicPr>
          <p:cNvPr id="17" name="Picture 16">
            <a:extLst>
              <a:ext uri="{FF2B5EF4-FFF2-40B4-BE49-F238E27FC236}">
                <a16:creationId xmlns:a16="http://schemas.microsoft.com/office/drawing/2014/main" id="{922D94DF-4A16-DDF9-BD78-F7127B5F681F}"/>
              </a:ext>
            </a:extLst>
          </p:cNvPr>
          <p:cNvPicPr>
            <a:picLocks noChangeAspect="1"/>
          </p:cNvPicPr>
          <p:nvPr/>
        </p:nvPicPr>
        <p:blipFill>
          <a:blip r:embed="rId5"/>
          <a:srcRect l="18935" r="6849"/>
          <a:stretch>
            <a:fillRect/>
          </a:stretch>
        </p:blipFill>
        <p:spPr>
          <a:xfrm>
            <a:off x="9026676" y="1937690"/>
            <a:ext cx="2778210" cy="3077764"/>
          </a:xfrm>
          <a:prstGeom prst="rect">
            <a:avLst/>
          </a:prstGeom>
          <a:ln w="19050">
            <a:solidFill>
              <a:schemeClr val="tx1"/>
            </a:solidFill>
          </a:ln>
        </p:spPr>
      </p:pic>
    </p:spTree>
    <p:extLst>
      <p:ext uri="{BB962C8B-B14F-4D97-AF65-F5344CB8AC3E}">
        <p14:creationId xmlns:p14="http://schemas.microsoft.com/office/powerpoint/2010/main" val="7707858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390B0-F490-FD79-C1FA-C1CDB24A8A3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F39AB6-FEA8-57ED-6E1A-C8EF4B94EDEA}"/>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CAD Designs</a:t>
            </a:r>
          </a:p>
        </p:txBody>
      </p:sp>
      <p:sp>
        <p:nvSpPr>
          <p:cNvPr id="6" name="Rectangle 5">
            <a:extLst>
              <a:ext uri="{FF2B5EF4-FFF2-40B4-BE49-F238E27FC236}">
                <a16:creationId xmlns:a16="http://schemas.microsoft.com/office/drawing/2014/main" id="{BA615F1B-5F24-BBAD-E058-3E256AFB6313}"/>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a:t>
            </a:r>
            <a:r>
              <a:rPr lang="en-GB" sz="1400" b="1" dirty="0">
                <a:solidFill>
                  <a:srgbClr val="E8E8E8"/>
                </a:solidFill>
                <a:latin typeface="Times New Roman" panose="02020603050405020304" pitchFamily="18" charset="0"/>
                <a:cs typeface="Times New Roman" panose="02020603050405020304" pitchFamily="18" charset="0"/>
              </a:rPr>
              <a:t>6</a:t>
            </a:r>
            <a:endPar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7E4E05F8-F2D6-FB3A-37DA-8E140439EEA9}"/>
              </a:ext>
            </a:extLst>
          </p:cNvPr>
          <p:cNvSpPr txBox="1"/>
          <p:nvPr/>
        </p:nvSpPr>
        <p:spPr>
          <a:xfrm>
            <a:off x="798210" y="3476806"/>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4D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Base Sub-Assembly</a:t>
            </a:r>
          </a:p>
        </p:txBody>
      </p:sp>
      <p:pic>
        <p:nvPicPr>
          <p:cNvPr id="11" name="Picture 10">
            <a:extLst>
              <a:ext uri="{FF2B5EF4-FFF2-40B4-BE49-F238E27FC236}">
                <a16:creationId xmlns:a16="http://schemas.microsoft.com/office/drawing/2014/main" id="{F5A52DED-49EC-44FC-D484-61112999BCF6}"/>
              </a:ext>
            </a:extLst>
          </p:cNvPr>
          <p:cNvPicPr>
            <a:picLocks noChangeAspect="1"/>
          </p:cNvPicPr>
          <p:nvPr/>
        </p:nvPicPr>
        <p:blipFill>
          <a:blip r:embed="rId3"/>
          <a:srcRect l="19268" t="18537" r="3634"/>
          <a:stretch>
            <a:fillRect/>
          </a:stretch>
        </p:blipFill>
        <p:spPr>
          <a:xfrm>
            <a:off x="194450" y="839289"/>
            <a:ext cx="3813502" cy="2505873"/>
          </a:xfrm>
          <a:prstGeom prst="rect">
            <a:avLst/>
          </a:prstGeom>
          <a:ln w="19050">
            <a:solidFill>
              <a:schemeClr val="tx1"/>
            </a:solidFill>
          </a:ln>
        </p:spPr>
      </p:pic>
      <p:sp>
        <p:nvSpPr>
          <p:cNvPr id="14" name="TextBox 13">
            <a:extLst>
              <a:ext uri="{FF2B5EF4-FFF2-40B4-BE49-F238E27FC236}">
                <a16:creationId xmlns:a16="http://schemas.microsoft.com/office/drawing/2014/main" id="{B26C6423-CF9E-982C-90BE-C966D7C4EE18}"/>
              </a:ext>
            </a:extLst>
          </p:cNvPr>
          <p:cNvSpPr txBox="1"/>
          <p:nvPr/>
        </p:nvSpPr>
        <p:spPr>
          <a:xfrm>
            <a:off x="2143919" y="6326743"/>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4H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a:t>
            </a:r>
            <a:r>
              <a:rPr lang="en-IN" sz="1100" i="1" dirty="0">
                <a:solidFill>
                  <a:prstClr val="black"/>
                </a:solidFill>
                <a:latin typeface="Times New Roman" panose="02020603050405020304" pitchFamily="18" charset="0"/>
                <a:cs typeface="Times New Roman" panose="02020603050405020304" pitchFamily="18" charset="0"/>
              </a:rPr>
              <a:t>of</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Base Plate</a:t>
            </a:r>
          </a:p>
        </p:txBody>
      </p:sp>
      <p:pic>
        <p:nvPicPr>
          <p:cNvPr id="16" name="Picture 15">
            <a:extLst>
              <a:ext uri="{FF2B5EF4-FFF2-40B4-BE49-F238E27FC236}">
                <a16:creationId xmlns:a16="http://schemas.microsoft.com/office/drawing/2014/main" id="{E8E520E8-AAB0-897E-E680-BC8C0A329FE5}"/>
              </a:ext>
            </a:extLst>
          </p:cNvPr>
          <p:cNvPicPr>
            <a:picLocks noChangeAspect="1"/>
          </p:cNvPicPr>
          <p:nvPr/>
        </p:nvPicPr>
        <p:blipFill rotWithShape="1">
          <a:blip r:embed="rId4"/>
          <a:srcRect l="14739" t="18085" r="10871" b="11067"/>
          <a:stretch>
            <a:fillRect/>
          </a:stretch>
        </p:blipFill>
        <p:spPr bwMode="auto">
          <a:xfrm>
            <a:off x="1651775" y="3795898"/>
            <a:ext cx="3813502" cy="2496380"/>
          </a:xfrm>
          <a:prstGeom prst="rect">
            <a:avLst/>
          </a:prstGeom>
          <a:ln w="19050">
            <a:solidFill>
              <a:schemeClr val="tx1"/>
            </a:solidFill>
          </a:ln>
          <a:extLst>
            <a:ext uri="{53640926-AAD7-44D8-BBD7-CCE9431645EC}">
              <a14:shadowObscured xmlns:a14="http://schemas.microsoft.com/office/drawing/2010/main"/>
            </a:ext>
          </a:extLst>
        </p:spPr>
      </p:pic>
      <p:sp>
        <p:nvSpPr>
          <p:cNvPr id="18" name="TextBox 17">
            <a:extLst>
              <a:ext uri="{FF2B5EF4-FFF2-40B4-BE49-F238E27FC236}">
                <a16:creationId xmlns:a16="http://schemas.microsoft.com/office/drawing/2014/main" id="{F78DD5A0-8CFC-4843-8C98-263C2A0AEB6F}"/>
              </a:ext>
            </a:extLst>
          </p:cNvPr>
          <p:cNvSpPr txBox="1"/>
          <p:nvPr/>
        </p:nvSpPr>
        <p:spPr>
          <a:xfrm>
            <a:off x="4564829" y="3484250"/>
            <a:ext cx="232754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4E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Model of  Stand</a:t>
            </a:r>
          </a:p>
        </p:txBody>
      </p:sp>
      <p:pic>
        <p:nvPicPr>
          <p:cNvPr id="19" name="Picture 18">
            <a:extLst>
              <a:ext uri="{FF2B5EF4-FFF2-40B4-BE49-F238E27FC236}">
                <a16:creationId xmlns:a16="http://schemas.microsoft.com/office/drawing/2014/main" id="{D5675AAD-4194-B5BF-0549-4255952B9594}"/>
              </a:ext>
            </a:extLst>
          </p:cNvPr>
          <p:cNvPicPr>
            <a:picLocks noChangeAspect="1"/>
          </p:cNvPicPr>
          <p:nvPr/>
        </p:nvPicPr>
        <p:blipFill rotWithShape="1">
          <a:blip r:embed="rId5"/>
          <a:srcRect l="19387" t="26775" r="22519" b="13601"/>
          <a:stretch>
            <a:fillRect/>
          </a:stretch>
        </p:blipFill>
        <p:spPr bwMode="auto">
          <a:xfrm>
            <a:off x="4564829" y="848782"/>
            <a:ext cx="2121824" cy="2536900"/>
          </a:xfrm>
          <a:prstGeom prst="rect">
            <a:avLst/>
          </a:prstGeom>
          <a:ln w="19050">
            <a:solidFill>
              <a:schemeClr val="tx1"/>
            </a:solid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2D3C4C6F-1A9D-3C08-C882-A30E14B6BF5C}"/>
              </a:ext>
            </a:extLst>
          </p:cNvPr>
          <p:cNvSpPr txBox="1"/>
          <p:nvPr/>
        </p:nvSpPr>
        <p:spPr>
          <a:xfrm>
            <a:off x="7109757" y="3512909"/>
            <a:ext cx="2893830"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4F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Outer Frame Sub-Assembly</a:t>
            </a:r>
          </a:p>
        </p:txBody>
      </p:sp>
      <p:pic>
        <p:nvPicPr>
          <p:cNvPr id="3" name="Picture 2">
            <a:extLst>
              <a:ext uri="{FF2B5EF4-FFF2-40B4-BE49-F238E27FC236}">
                <a16:creationId xmlns:a16="http://schemas.microsoft.com/office/drawing/2014/main" id="{A01184CA-0A8C-76A9-96DF-06F304FD24DA}"/>
              </a:ext>
            </a:extLst>
          </p:cNvPr>
          <p:cNvPicPr>
            <a:picLocks noChangeAspect="1"/>
          </p:cNvPicPr>
          <p:nvPr/>
        </p:nvPicPr>
        <p:blipFill>
          <a:blip r:embed="rId6"/>
          <a:srcRect l="18548" t="12746" r="14927" b="11417"/>
          <a:stretch>
            <a:fillRect/>
          </a:stretch>
        </p:blipFill>
        <p:spPr>
          <a:xfrm>
            <a:off x="7329770" y="837305"/>
            <a:ext cx="1872174" cy="2580218"/>
          </a:xfrm>
          <a:prstGeom prst="rect">
            <a:avLst/>
          </a:prstGeom>
          <a:ln w="19050">
            <a:solidFill>
              <a:schemeClr val="tx1"/>
            </a:solidFill>
          </a:ln>
        </p:spPr>
      </p:pic>
      <p:pic>
        <p:nvPicPr>
          <p:cNvPr id="4" name="Picture 3">
            <a:extLst>
              <a:ext uri="{FF2B5EF4-FFF2-40B4-BE49-F238E27FC236}">
                <a16:creationId xmlns:a16="http://schemas.microsoft.com/office/drawing/2014/main" id="{8744D4BD-630F-2133-C1D6-6B905D135945}"/>
              </a:ext>
            </a:extLst>
          </p:cNvPr>
          <p:cNvPicPr>
            <a:picLocks noChangeAspect="1"/>
          </p:cNvPicPr>
          <p:nvPr/>
        </p:nvPicPr>
        <p:blipFill>
          <a:blip r:embed="rId7"/>
          <a:srcRect l="12290" r="8789"/>
          <a:stretch>
            <a:fillRect/>
          </a:stretch>
        </p:blipFill>
        <p:spPr>
          <a:xfrm>
            <a:off x="10003587" y="828726"/>
            <a:ext cx="1993963" cy="2588797"/>
          </a:xfrm>
          <a:prstGeom prst="rect">
            <a:avLst/>
          </a:prstGeom>
          <a:ln w="19050">
            <a:solidFill>
              <a:schemeClr val="tx1"/>
            </a:solidFill>
          </a:ln>
        </p:spPr>
      </p:pic>
      <p:sp>
        <p:nvSpPr>
          <p:cNvPr id="9" name="TextBox 8">
            <a:extLst>
              <a:ext uri="{FF2B5EF4-FFF2-40B4-BE49-F238E27FC236}">
                <a16:creationId xmlns:a16="http://schemas.microsoft.com/office/drawing/2014/main" id="{A2FEEEFD-0C2A-A786-0599-37FD4C176DCF}"/>
              </a:ext>
            </a:extLst>
          </p:cNvPr>
          <p:cNvSpPr txBox="1"/>
          <p:nvPr/>
        </p:nvSpPr>
        <p:spPr>
          <a:xfrm>
            <a:off x="10003587" y="3540649"/>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4G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of the Outer Frame</a:t>
            </a:r>
          </a:p>
        </p:txBody>
      </p:sp>
      <p:sp>
        <p:nvSpPr>
          <p:cNvPr id="13" name="TextBox 12">
            <a:extLst>
              <a:ext uri="{FF2B5EF4-FFF2-40B4-BE49-F238E27FC236}">
                <a16:creationId xmlns:a16="http://schemas.microsoft.com/office/drawing/2014/main" id="{E2FDEAE1-E34D-B4F9-338C-82F6623ECDFE}"/>
              </a:ext>
            </a:extLst>
          </p:cNvPr>
          <p:cNvSpPr txBox="1"/>
          <p:nvPr/>
        </p:nvSpPr>
        <p:spPr>
          <a:xfrm>
            <a:off x="5909321" y="6315865"/>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4I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Inner Frame Sub-Assembly</a:t>
            </a:r>
          </a:p>
        </p:txBody>
      </p:sp>
      <p:pic>
        <p:nvPicPr>
          <p:cNvPr id="15" name="Picture 14">
            <a:extLst>
              <a:ext uri="{FF2B5EF4-FFF2-40B4-BE49-F238E27FC236}">
                <a16:creationId xmlns:a16="http://schemas.microsoft.com/office/drawing/2014/main" id="{B6B2476D-3728-0DDE-5ADA-FDC6C084A126}"/>
              </a:ext>
            </a:extLst>
          </p:cNvPr>
          <p:cNvPicPr>
            <a:picLocks noChangeAspect="1"/>
          </p:cNvPicPr>
          <p:nvPr/>
        </p:nvPicPr>
        <p:blipFill>
          <a:blip r:embed="rId8"/>
          <a:srcRect l="27850" t="14850" r="13925" b="14619"/>
          <a:stretch>
            <a:fillRect/>
          </a:stretch>
        </p:blipFill>
        <p:spPr>
          <a:xfrm>
            <a:off x="6077824" y="3830398"/>
            <a:ext cx="1970422" cy="2468659"/>
          </a:xfrm>
          <a:prstGeom prst="rect">
            <a:avLst/>
          </a:prstGeom>
          <a:ln w="19050">
            <a:solidFill>
              <a:schemeClr val="tx1"/>
            </a:solidFill>
          </a:ln>
        </p:spPr>
      </p:pic>
      <p:sp>
        <p:nvSpPr>
          <p:cNvPr id="20" name="TextBox 19">
            <a:extLst>
              <a:ext uri="{FF2B5EF4-FFF2-40B4-BE49-F238E27FC236}">
                <a16:creationId xmlns:a16="http://schemas.microsoft.com/office/drawing/2014/main" id="{A14359D5-B86E-4D25-6DBA-E1BFAA912480}"/>
              </a:ext>
            </a:extLst>
          </p:cNvPr>
          <p:cNvSpPr txBox="1"/>
          <p:nvPr/>
        </p:nvSpPr>
        <p:spPr>
          <a:xfrm>
            <a:off x="8829584" y="6322619"/>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4J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CAD of the Inner Frame</a:t>
            </a:r>
          </a:p>
        </p:txBody>
      </p:sp>
      <p:pic>
        <p:nvPicPr>
          <p:cNvPr id="21" name="Picture 20">
            <a:extLst>
              <a:ext uri="{FF2B5EF4-FFF2-40B4-BE49-F238E27FC236}">
                <a16:creationId xmlns:a16="http://schemas.microsoft.com/office/drawing/2014/main" id="{877E902A-DE0E-BDB9-430F-B1523358F3B7}"/>
              </a:ext>
            </a:extLst>
          </p:cNvPr>
          <p:cNvPicPr>
            <a:picLocks noChangeAspect="1"/>
          </p:cNvPicPr>
          <p:nvPr/>
        </p:nvPicPr>
        <p:blipFill>
          <a:blip r:embed="rId9"/>
          <a:srcRect l="16261"/>
          <a:stretch>
            <a:fillRect/>
          </a:stretch>
        </p:blipFill>
        <p:spPr>
          <a:xfrm>
            <a:off x="8660793" y="3862261"/>
            <a:ext cx="2024034" cy="2430017"/>
          </a:xfrm>
          <a:prstGeom prst="rect">
            <a:avLst/>
          </a:prstGeom>
          <a:ln w="19050">
            <a:solidFill>
              <a:schemeClr val="tx1"/>
            </a:solidFill>
          </a:ln>
        </p:spPr>
      </p:pic>
    </p:spTree>
    <p:extLst>
      <p:ext uri="{BB962C8B-B14F-4D97-AF65-F5344CB8AC3E}">
        <p14:creationId xmlns:p14="http://schemas.microsoft.com/office/powerpoint/2010/main" val="1066052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EF2A1-D43F-ED6D-B116-7FE0B9946D7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38B6F73-5DCF-7739-56DE-401987F4BB18}"/>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CAD Designs</a:t>
            </a:r>
          </a:p>
        </p:txBody>
      </p:sp>
      <p:sp>
        <p:nvSpPr>
          <p:cNvPr id="6" name="Rectangle 5">
            <a:extLst>
              <a:ext uri="{FF2B5EF4-FFF2-40B4-BE49-F238E27FC236}">
                <a16:creationId xmlns:a16="http://schemas.microsoft.com/office/drawing/2014/main" id="{B898A7C8-7E7C-8BD7-ED30-52E7F78E5C1D}"/>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a:t>
            </a:r>
            <a:r>
              <a:rPr lang="en-GB" sz="1400" b="1" dirty="0">
                <a:solidFill>
                  <a:srgbClr val="E8E8E8"/>
                </a:solidFill>
                <a:latin typeface="Times New Roman" panose="02020603050405020304" pitchFamily="18" charset="0"/>
                <a:cs typeface="Times New Roman" panose="02020603050405020304" pitchFamily="18" charset="0"/>
              </a:rPr>
              <a:t>7</a:t>
            </a:r>
            <a:endPar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8" name="Picture 7" descr="A blueprint of a machine&#10;&#10;AI-generated content may be incorrect.">
            <a:extLst>
              <a:ext uri="{FF2B5EF4-FFF2-40B4-BE49-F238E27FC236}">
                <a16:creationId xmlns:a16="http://schemas.microsoft.com/office/drawing/2014/main" id="{612CFE44-1904-748B-6AAF-BFF9D4FBA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2000"/>
            <a:ext cx="8182428" cy="5787571"/>
          </a:xfrm>
          <a:prstGeom prst="rect">
            <a:avLst/>
          </a:prstGeom>
          <a:ln>
            <a:solidFill>
              <a:schemeClr val="tx1"/>
            </a:solidFill>
          </a:ln>
        </p:spPr>
      </p:pic>
      <p:sp>
        <p:nvSpPr>
          <p:cNvPr id="12" name="TextBox 11">
            <a:extLst>
              <a:ext uri="{FF2B5EF4-FFF2-40B4-BE49-F238E27FC236}">
                <a16:creationId xmlns:a16="http://schemas.microsoft.com/office/drawing/2014/main" id="{5464CEBC-E242-141A-6058-12AE57DBFE56}"/>
              </a:ext>
            </a:extLst>
          </p:cNvPr>
          <p:cNvSpPr txBox="1"/>
          <p:nvPr/>
        </p:nvSpPr>
        <p:spPr>
          <a:xfrm>
            <a:off x="8500972" y="3429000"/>
            <a:ext cx="260598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4K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Assembly Drawing</a:t>
            </a:r>
          </a:p>
        </p:txBody>
      </p:sp>
    </p:spTree>
    <p:extLst>
      <p:ext uri="{BB962C8B-B14F-4D97-AF65-F5344CB8AC3E}">
        <p14:creationId xmlns:p14="http://schemas.microsoft.com/office/powerpoint/2010/main" val="8130265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7DC1-ED7B-CAAD-6F5D-7C42BEDF8AC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D4CC465-AB02-49E2-CD37-C50C34490B0E}"/>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Torque &amp; Motor Calculations</a:t>
            </a:r>
          </a:p>
        </p:txBody>
      </p:sp>
      <p:sp>
        <p:nvSpPr>
          <p:cNvPr id="6" name="Rectangle 5">
            <a:extLst>
              <a:ext uri="{FF2B5EF4-FFF2-40B4-BE49-F238E27FC236}">
                <a16:creationId xmlns:a16="http://schemas.microsoft.com/office/drawing/2014/main" id="{BEAA916A-831C-0C04-685F-CF2F2CA02C6E}"/>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a:t>
            </a:r>
            <a:r>
              <a:rPr lang="en-GB" sz="1400" b="1" dirty="0">
                <a:solidFill>
                  <a:srgbClr val="E8E8E8"/>
                </a:solidFill>
                <a:latin typeface="Times New Roman" panose="02020603050405020304" pitchFamily="18" charset="0"/>
                <a:cs typeface="Times New Roman" panose="02020603050405020304" pitchFamily="18" charset="0"/>
              </a:rPr>
              <a:t>8</a:t>
            </a:r>
            <a:endPar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A2B64E0-4FD0-2E15-BB93-4BDD3122E4F7}"/>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8247A25A-F306-9607-0B5D-20B29349CCB3}"/>
              </a:ext>
            </a:extLst>
          </p:cNvPr>
          <p:cNvPicPr>
            <a:picLocks noChangeAspect="1"/>
          </p:cNvPicPr>
          <p:nvPr/>
        </p:nvPicPr>
        <p:blipFill rotWithShape="1">
          <a:blip r:embed="rId3"/>
          <a:srcRect l="24633" r="26794"/>
          <a:stretch>
            <a:fillRect/>
          </a:stretch>
        </p:blipFill>
        <p:spPr bwMode="auto">
          <a:xfrm>
            <a:off x="274864" y="1392195"/>
            <a:ext cx="3790950" cy="3599815"/>
          </a:xfrm>
          <a:prstGeom prst="rect">
            <a:avLst/>
          </a:prstGeom>
          <a:ln w="19050">
            <a:solidFill>
              <a:schemeClr val="tx1"/>
            </a:solid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2B3CB4E1-AB56-AED7-6DBC-6D852620472A}"/>
              </a:ext>
            </a:extLst>
          </p:cNvPr>
          <p:cNvSpPr txBox="1"/>
          <p:nvPr/>
        </p:nvSpPr>
        <p:spPr>
          <a:xfrm>
            <a:off x="274864" y="5031611"/>
            <a:ext cx="3790949" cy="261610"/>
          </a:xfrm>
          <a:prstGeom prst="rect">
            <a:avLst/>
          </a:prstGeom>
          <a:noFill/>
        </p:spPr>
        <p:txBody>
          <a:bodyPr wrap="square" rtlCol="0">
            <a:spAutoFit/>
          </a:bodyPr>
          <a:lstStyle/>
          <a:p>
            <a:pPr lvl="0"/>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5A  : </a:t>
            </a:r>
            <a:r>
              <a:rPr lang="en-IN" sz="1100" i="1" dirty="0">
                <a:solidFill>
                  <a:prstClr val="black"/>
                </a:solidFill>
                <a:latin typeface="Times New Roman" panose="02020603050405020304" pitchFamily="18" charset="0"/>
                <a:cs typeface="Times New Roman" panose="02020603050405020304" pitchFamily="18" charset="0"/>
              </a:rPr>
              <a:t>CAD of the Parts to be rotated by the Outer motors</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73C4CB5F-B12C-3D13-5667-369A9ADD645E}"/>
              </a:ext>
            </a:extLst>
          </p:cNvPr>
          <p:cNvSpPr txBox="1"/>
          <p:nvPr/>
        </p:nvSpPr>
        <p:spPr>
          <a:xfrm>
            <a:off x="5371967" y="6041978"/>
            <a:ext cx="277313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5B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Physical Properties of the Assembly as calculated by the CAD software</a:t>
            </a:r>
          </a:p>
        </p:txBody>
      </p:sp>
      <p:pic>
        <p:nvPicPr>
          <p:cNvPr id="18" name="Picture 17">
            <a:extLst>
              <a:ext uri="{FF2B5EF4-FFF2-40B4-BE49-F238E27FC236}">
                <a16:creationId xmlns:a16="http://schemas.microsoft.com/office/drawing/2014/main" id="{8B8D064E-96F8-914E-77F6-063D131B5D90}"/>
              </a:ext>
            </a:extLst>
          </p:cNvPr>
          <p:cNvPicPr>
            <a:picLocks noChangeAspect="1"/>
          </p:cNvPicPr>
          <p:nvPr/>
        </p:nvPicPr>
        <p:blipFill>
          <a:blip r:embed="rId4"/>
          <a:stretch>
            <a:fillRect/>
          </a:stretch>
        </p:blipFill>
        <p:spPr>
          <a:xfrm>
            <a:off x="4867275" y="902717"/>
            <a:ext cx="3782516" cy="5052565"/>
          </a:xfrm>
          <a:prstGeom prst="rect">
            <a:avLst/>
          </a:prstGeom>
          <a:ln w="19050">
            <a:solidFill>
              <a:schemeClr val="tx1"/>
            </a:solidFill>
          </a:ln>
        </p:spPr>
      </p:pic>
      <p:sp>
        <p:nvSpPr>
          <p:cNvPr id="2" name="TextBox 1">
            <a:extLst>
              <a:ext uri="{FF2B5EF4-FFF2-40B4-BE49-F238E27FC236}">
                <a16:creationId xmlns:a16="http://schemas.microsoft.com/office/drawing/2014/main" id="{B9CCAEEB-AA1F-33F1-000A-EA2B6B3D5699}"/>
              </a:ext>
            </a:extLst>
          </p:cNvPr>
          <p:cNvSpPr txBox="1"/>
          <p:nvPr/>
        </p:nvSpPr>
        <p:spPr>
          <a:xfrm>
            <a:off x="8486776" y="922303"/>
            <a:ext cx="3600450" cy="646331"/>
          </a:xfrm>
          <a:prstGeom prst="rect">
            <a:avLst/>
          </a:prstGeom>
          <a:noFill/>
        </p:spPr>
        <p:txBody>
          <a:bodyPr wrap="square" rtlCol="0">
            <a:spAutoFit/>
          </a:bodyPr>
          <a:lstStyle/>
          <a:p>
            <a:pPr marL="357187"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Information Derived From the Software</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9E0B58B-EA09-C67C-A34C-259D868582A6}"/>
              </a:ext>
            </a:extLst>
          </p:cNvPr>
          <p:cNvSpPr txBox="1"/>
          <p:nvPr/>
        </p:nvSpPr>
        <p:spPr>
          <a:xfrm>
            <a:off x="9408996" y="2191723"/>
            <a:ext cx="2678230" cy="1570943"/>
          </a:xfrm>
          <a:prstGeom prst="rect">
            <a:avLst/>
          </a:prstGeom>
          <a:noFill/>
        </p:spPr>
        <p:txBody>
          <a:bodyPr wrap="square">
            <a:spAutoFit/>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1800" kern="100" baseline="-25000" dirty="0">
                <a:effectLst/>
                <a:latin typeface="Times New Roman" panose="02020603050405020304" pitchFamily="18" charset="0"/>
                <a:ea typeface="Calibri" panose="020F0502020204030204" pitchFamily="34" charset="0"/>
                <a:cs typeface="Times New Roman" panose="02020603050405020304" pitchFamily="18" charset="0"/>
              </a:rPr>
              <a:t>ZZ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0.614kg/m</a:t>
            </a:r>
            <a:r>
              <a:rPr lang="en-US" sz="1800" kern="100" baseline="300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 = 10 rpm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ω</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 1.047rad/s (maximum)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l-GR" sz="1800" kern="100"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 10rad/s</a:t>
            </a:r>
            <a:r>
              <a:rPr lang="en-US" sz="1800" kern="100" baseline="300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01FDE9-E8D3-0D85-331D-591F7FCCBB68}"/>
                  </a:ext>
                </a:extLst>
              </p:cNvPr>
              <p:cNvSpPr txBox="1"/>
              <p:nvPr/>
            </p:nvSpPr>
            <p:spPr>
              <a:xfrm>
                <a:off x="9286195" y="4385755"/>
                <a:ext cx="2630941" cy="2087110"/>
              </a:xfrm>
              <a:prstGeom prst="rect">
                <a:avLst/>
              </a:prstGeom>
              <a:noFill/>
            </p:spPr>
            <p:txBody>
              <a:bodyPr wrap="square">
                <a:spAutoFit/>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b="1" i="1" kern="100" smtClean="0">
                          <a:effectLst/>
                          <a:latin typeface="Cambria Math" panose="02040503050406030204" pitchFamily="18" charset="0"/>
                          <a:ea typeface="Calibri" panose="020F0502020204030204" pitchFamily="34" charset="0"/>
                          <a:cs typeface="Times New Roman" panose="02020603050405020304" pitchFamily="18" charset="0"/>
                        </a:rPr>
                        <m:t>𝝉</m:t>
                      </m:r>
                      <m:r>
                        <a:rPr lang="en-US" sz="1800" b="1" i="1" kern="100"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kern="100" smtClean="0">
                          <a:effectLst/>
                          <a:latin typeface="Cambria Math" panose="02040503050406030204" pitchFamily="18" charset="0"/>
                          <a:ea typeface="Calibri" panose="020F0502020204030204" pitchFamily="34" charset="0"/>
                          <a:cs typeface="Times New Roman" panose="02020603050405020304" pitchFamily="18" charset="0"/>
                        </a:rPr>
                        <m:t>𝑰</m:t>
                      </m:r>
                      <m:r>
                        <a:rPr lang="en-US" sz="1800" b="1" i="1" kern="100" smtClean="0">
                          <a:effectLst/>
                          <a:latin typeface="Cambria Math" panose="02040503050406030204" pitchFamily="18" charset="0"/>
                          <a:ea typeface="Calibri" panose="020F0502020204030204" pitchFamily="34" charset="0"/>
                          <a:cs typeface="Times New Roman" panose="02020603050405020304" pitchFamily="18" charset="0"/>
                        </a:rPr>
                        <m:t>𝜶</m:t>
                      </m:r>
                    </m:oMath>
                  </m:oMathPara>
                </a14:m>
                <a:endParaRPr lang="en-IN"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𝜏𝜔</m:t>
                      </m:r>
                    </m:oMath>
                  </m:oMathPara>
                </a14:m>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𝑃</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𝐼</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𝛼𝜔</m:t>
                      </m:r>
                    </m:oMath>
                  </m:oMathPara>
                </a14:m>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𝑃</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=0.614×10×1.047</m:t>
                      </m:r>
                    </m:oMath>
                  </m:oMathPara>
                </a14:m>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𝑷</m:t>
                      </m:r>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𝟔</m:t>
                      </m:r>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𝟒𝟑</m:t>
                      </m:r>
                      <m:r>
                        <a:rPr lang="en-US" sz="1800" b="1" i="1" kern="100">
                          <a:effectLst/>
                          <a:latin typeface="Cambria Math" panose="02040503050406030204" pitchFamily="18" charset="0"/>
                          <a:ea typeface="Times New Roman" panose="02020603050405020304" pitchFamily="18" charset="0"/>
                          <a:cs typeface="Times New Roman" panose="02020603050405020304" pitchFamily="18" charset="0"/>
                        </a:rPr>
                        <m:t>𝑾</m:t>
                      </m:r>
                    </m:oMath>
                  </m:oMathPara>
                </a14:m>
                <a:endParaRPr lang="en-IN" sz="1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501FDE9-E8D3-0D85-331D-591F7FCCBB68}"/>
                  </a:ext>
                </a:extLst>
              </p:cNvPr>
              <p:cNvSpPr txBox="1">
                <a:spLocks noRot="1" noChangeAspect="1" noMove="1" noResize="1" noEditPoints="1" noAdjustHandles="1" noChangeArrowheads="1" noChangeShapeType="1" noTextEdit="1"/>
              </p:cNvSpPr>
              <p:nvPr/>
            </p:nvSpPr>
            <p:spPr>
              <a:xfrm>
                <a:off x="9286195" y="4385755"/>
                <a:ext cx="2630941" cy="208711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848500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6702-FBDF-9824-1F90-96A24C35CF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6C1DFB6-386F-6641-311A-DF0D7E346CF6}"/>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Torque &amp; Motor Calculations</a:t>
            </a:r>
          </a:p>
        </p:txBody>
      </p:sp>
      <p:sp>
        <p:nvSpPr>
          <p:cNvPr id="6" name="Rectangle 5">
            <a:extLst>
              <a:ext uri="{FF2B5EF4-FFF2-40B4-BE49-F238E27FC236}">
                <a16:creationId xmlns:a16="http://schemas.microsoft.com/office/drawing/2014/main" id="{CA3AD578-57AD-0ACB-1429-78057E724019}"/>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9 </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3FE659C7-AEE5-EE54-7563-B5EDCBEE8185}"/>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98EB72E7-E39E-CC85-FD27-12E58EA6422F}"/>
              </a:ext>
            </a:extLst>
          </p:cNvPr>
          <p:cNvPicPr>
            <a:picLocks noChangeAspect="1"/>
          </p:cNvPicPr>
          <p:nvPr/>
        </p:nvPicPr>
        <p:blipFill rotWithShape="1">
          <a:blip r:embed="rId3"/>
          <a:srcRect t="1859" b="1859"/>
          <a:stretch/>
        </p:blipFill>
        <p:spPr bwMode="auto">
          <a:xfrm>
            <a:off x="274864" y="1392195"/>
            <a:ext cx="3790950" cy="3599815"/>
          </a:xfrm>
          <a:prstGeom prst="rect">
            <a:avLst/>
          </a:prstGeom>
          <a:ln w="19050">
            <a:solidFill>
              <a:schemeClr val="tx1"/>
            </a:solid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D5808681-B8C6-6826-F018-E5B66752CBA6}"/>
              </a:ext>
            </a:extLst>
          </p:cNvPr>
          <p:cNvSpPr txBox="1"/>
          <p:nvPr/>
        </p:nvSpPr>
        <p:spPr>
          <a:xfrm>
            <a:off x="274864" y="5031611"/>
            <a:ext cx="3790949" cy="261610"/>
          </a:xfrm>
          <a:prstGeom prst="rect">
            <a:avLst/>
          </a:prstGeom>
          <a:noFill/>
        </p:spPr>
        <p:txBody>
          <a:bodyPr wrap="square" rtlCol="0">
            <a:spAutoFit/>
          </a:bodyPr>
          <a:lstStyle/>
          <a:p>
            <a:pPr lvl="0"/>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5C  : </a:t>
            </a:r>
            <a:r>
              <a:rPr lang="en-IN" sz="1100" i="1" dirty="0">
                <a:solidFill>
                  <a:prstClr val="black"/>
                </a:solidFill>
                <a:latin typeface="Times New Roman" panose="02020603050405020304" pitchFamily="18" charset="0"/>
                <a:cs typeface="Times New Roman" panose="02020603050405020304" pitchFamily="18" charset="0"/>
              </a:rPr>
              <a:t>CAD of the Parts to be rotated by the Outer motors</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28249C4A-2078-4741-2887-73800F42DFC1}"/>
              </a:ext>
            </a:extLst>
          </p:cNvPr>
          <p:cNvSpPr txBox="1"/>
          <p:nvPr/>
        </p:nvSpPr>
        <p:spPr>
          <a:xfrm>
            <a:off x="5371967" y="6041978"/>
            <a:ext cx="277313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Fig 5D  : </a:t>
            </a:r>
            <a:r>
              <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Physical Properties of the Assembly as calculated by the CAD software</a:t>
            </a:r>
          </a:p>
        </p:txBody>
      </p:sp>
      <p:pic>
        <p:nvPicPr>
          <p:cNvPr id="18" name="Picture 17">
            <a:extLst>
              <a:ext uri="{FF2B5EF4-FFF2-40B4-BE49-F238E27FC236}">
                <a16:creationId xmlns:a16="http://schemas.microsoft.com/office/drawing/2014/main" id="{7A58A6F8-5695-2203-FB1C-BF9556047CEA}"/>
              </a:ext>
            </a:extLst>
          </p:cNvPr>
          <p:cNvPicPr>
            <a:picLocks noChangeAspect="1"/>
          </p:cNvPicPr>
          <p:nvPr/>
        </p:nvPicPr>
        <p:blipFill>
          <a:blip r:embed="rId4"/>
          <a:srcRect/>
          <a:stretch/>
        </p:blipFill>
        <p:spPr>
          <a:xfrm>
            <a:off x="4867275" y="909481"/>
            <a:ext cx="3782516" cy="5039036"/>
          </a:xfrm>
          <a:prstGeom prst="rect">
            <a:avLst/>
          </a:prstGeom>
          <a:ln w="19050">
            <a:solidFill>
              <a:schemeClr val="tx1"/>
            </a:solidFill>
          </a:ln>
        </p:spPr>
      </p:pic>
      <p:sp>
        <p:nvSpPr>
          <p:cNvPr id="2" name="TextBox 1">
            <a:extLst>
              <a:ext uri="{FF2B5EF4-FFF2-40B4-BE49-F238E27FC236}">
                <a16:creationId xmlns:a16="http://schemas.microsoft.com/office/drawing/2014/main" id="{0CB35001-61A0-AE64-9F42-E02434D6140E}"/>
              </a:ext>
            </a:extLst>
          </p:cNvPr>
          <p:cNvSpPr txBox="1"/>
          <p:nvPr/>
        </p:nvSpPr>
        <p:spPr>
          <a:xfrm>
            <a:off x="8486776" y="922303"/>
            <a:ext cx="3600450" cy="646331"/>
          </a:xfrm>
          <a:prstGeom prst="rect">
            <a:avLst/>
          </a:prstGeom>
          <a:noFill/>
        </p:spPr>
        <p:txBody>
          <a:bodyPr wrap="square" rtlCol="0">
            <a:spAutoFit/>
          </a:bodyPr>
          <a:lstStyle/>
          <a:p>
            <a:pPr marL="357187"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Information Derived From the Software</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8B72D79-E6F8-7B68-CB16-1556030B30ED}"/>
              </a:ext>
            </a:extLst>
          </p:cNvPr>
          <p:cNvSpPr txBox="1"/>
          <p:nvPr/>
        </p:nvSpPr>
        <p:spPr>
          <a:xfrm>
            <a:off x="9408996" y="1936279"/>
            <a:ext cx="2678230" cy="203132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a:t>
            </a:r>
            <a:r>
              <a:rPr lang="en-US" baseline="-25000" dirty="0">
                <a:latin typeface="Times New Roman" panose="02020603050405020304" pitchFamily="18" charset="0"/>
                <a:cs typeface="Times New Roman" panose="02020603050405020304" pitchFamily="18" charset="0"/>
              </a:rPr>
              <a:t>YY </a:t>
            </a:r>
            <a:r>
              <a:rPr lang="en-US" dirty="0">
                <a:latin typeface="Times New Roman" panose="02020603050405020304" pitchFamily="18" charset="0"/>
                <a:cs typeface="Times New Roman" panose="02020603050405020304" pitchFamily="18" charset="0"/>
              </a:rPr>
              <a:t>= 0.172 kgm</a:t>
            </a:r>
            <a:r>
              <a:rPr lang="en-US" baseline="30000" dirty="0">
                <a:latin typeface="Times New Roman" panose="02020603050405020304" pitchFamily="18" charset="0"/>
                <a:cs typeface="Times New Roman" panose="02020603050405020304" pitchFamily="18" charset="0"/>
              </a:rPr>
              <a:t>2</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 =10 rpm</a:t>
            </a:r>
          </a:p>
          <a:p>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ω</a:t>
            </a:r>
            <a:r>
              <a:rPr lang="en-US" dirty="0">
                <a:latin typeface="Times New Roman" panose="02020603050405020304" pitchFamily="18" charset="0"/>
                <a:cs typeface="Times New Roman" panose="02020603050405020304" pitchFamily="18" charset="0"/>
              </a:rPr>
              <a:t> = 1.047 rad/s</a:t>
            </a:r>
          </a:p>
          <a:p>
            <a:endParaRPr lang="en-IN" dirty="0">
              <a:latin typeface="Times New Roman" panose="02020603050405020304" pitchFamily="18" charset="0"/>
              <a:cs typeface="Times New Roman" panose="02020603050405020304" pitchFamily="18" charset="0"/>
            </a:endParaRPr>
          </a:p>
          <a:p>
            <a:r>
              <a:rPr lang="el-GR" dirty="0">
                <a:latin typeface="Times New Roman" panose="02020603050405020304" pitchFamily="18" charset="0"/>
                <a:cs typeface="Times New Roman" panose="02020603050405020304" pitchFamily="18" charset="0"/>
              </a:rPr>
              <a:t>Α</a:t>
            </a:r>
            <a:r>
              <a:rPr lang="en-US" dirty="0">
                <a:latin typeface="Times New Roman" panose="02020603050405020304" pitchFamily="18" charset="0"/>
                <a:cs typeface="Times New Roman" panose="02020603050405020304" pitchFamily="18" charset="0"/>
              </a:rPr>
              <a:t> = 10rad/s</a:t>
            </a:r>
            <a:r>
              <a:rPr lang="en-US" baseline="30000"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234488B-407C-FD66-1944-0EB5B61B5833}"/>
                  </a:ext>
                </a:extLst>
              </p:cNvPr>
              <p:cNvSpPr txBox="1"/>
              <p:nvPr/>
            </p:nvSpPr>
            <p:spPr>
              <a:xfrm>
                <a:off x="8785551" y="3981595"/>
                <a:ext cx="2630941" cy="25853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𝝉</m:t>
                      </m:r>
                      <m:r>
                        <a:rPr lang="en-US" b="1" i="1">
                          <a:latin typeface="Cambria Math" panose="02040503050406030204" pitchFamily="18" charset="0"/>
                        </a:rPr>
                        <m:t>=</m:t>
                      </m:r>
                      <m:r>
                        <a:rPr lang="en-US" b="1" i="1">
                          <a:latin typeface="Cambria Math" panose="02040503050406030204" pitchFamily="18" charset="0"/>
                        </a:rPr>
                        <m:t>𝑰</m:t>
                      </m:r>
                      <m:r>
                        <a:rPr lang="en-US" b="1" i="1">
                          <a:latin typeface="Cambria Math" panose="02040503050406030204" pitchFamily="18" charset="0"/>
                        </a:rPr>
                        <m:t>𝜶</m:t>
                      </m:r>
                    </m:oMath>
                  </m:oMathPara>
                </a14:m>
                <a:endParaRPr lang="en-IN" b="1" dirty="0"/>
              </a:p>
              <a:p>
                <a:endParaRPr lang="en-IN" b="1"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𝜏𝜔</m:t>
                      </m:r>
                    </m:oMath>
                  </m:oMathPara>
                </a14:m>
                <a:endParaRPr lang="en-IN" dirty="0"/>
              </a:p>
              <a:p>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𝐼</m:t>
                      </m:r>
                      <m:r>
                        <a:rPr lang="en-US" i="1">
                          <a:latin typeface="Cambria Math" panose="02040503050406030204" pitchFamily="18" charset="0"/>
                        </a:rPr>
                        <m:t>𝛼𝜔</m:t>
                      </m:r>
                    </m:oMath>
                  </m:oMathPara>
                </a14:m>
                <a:endParaRPr lang="en-IN" dirty="0"/>
              </a:p>
              <a:p>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=0.172×10×1.047</m:t>
                      </m:r>
                    </m:oMath>
                  </m:oMathPara>
                </a14:m>
                <a:endParaRPr lang="en-IN" dirty="0"/>
              </a:p>
              <a:p>
                <a:endParaRPr lang="en-US"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𝟖</m:t>
                      </m:r>
                      <m:r>
                        <a:rPr lang="en-US" b="1" i="1">
                          <a:latin typeface="Cambria Math" panose="02040503050406030204" pitchFamily="18" charset="0"/>
                        </a:rPr>
                        <m:t>𝑾</m:t>
                      </m:r>
                    </m:oMath>
                  </m:oMathPara>
                </a14:m>
                <a:endParaRPr lang="en-IN" b="1" dirty="0"/>
              </a:p>
            </p:txBody>
          </p:sp>
        </mc:Choice>
        <mc:Fallback xmlns="">
          <p:sp>
            <p:nvSpPr>
              <p:cNvPr id="4" name="TextBox 3">
                <a:extLst>
                  <a:ext uri="{FF2B5EF4-FFF2-40B4-BE49-F238E27FC236}">
                    <a16:creationId xmlns:a16="http://schemas.microsoft.com/office/drawing/2014/main" id="{1234488B-407C-FD66-1944-0EB5B61B5833}"/>
                  </a:ext>
                </a:extLst>
              </p:cNvPr>
              <p:cNvSpPr txBox="1">
                <a:spLocks noRot="1" noChangeAspect="1" noMove="1" noResize="1" noEditPoints="1" noAdjustHandles="1" noChangeArrowheads="1" noChangeShapeType="1" noTextEdit="1"/>
              </p:cNvSpPr>
              <p:nvPr/>
            </p:nvSpPr>
            <p:spPr>
              <a:xfrm>
                <a:off x="8785551" y="3981595"/>
                <a:ext cx="2630941" cy="258532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860509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487E0-ADF5-FCCA-2141-9D302E3F9B4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8E2E483-E019-5191-2CFC-CC811A0AFCA6}"/>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Torque &amp; Motor Calculations</a:t>
            </a:r>
          </a:p>
        </p:txBody>
      </p:sp>
      <p:sp>
        <p:nvSpPr>
          <p:cNvPr id="6" name="Rectangle 5">
            <a:extLst>
              <a:ext uri="{FF2B5EF4-FFF2-40B4-BE49-F238E27FC236}">
                <a16:creationId xmlns:a16="http://schemas.microsoft.com/office/drawing/2014/main" id="{424B35DB-FFF6-B668-C6D7-B89CDCB854E5}"/>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10</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C91C5B84-9188-7A54-7726-B124FED08CDD}"/>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BE1298A4-FC78-CA64-C0E4-0F0FE6FED2EE}"/>
              </a:ext>
            </a:extLst>
          </p:cNvPr>
          <p:cNvSpPr txBox="1"/>
          <p:nvPr/>
        </p:nvSpPr>
        <p:spPr>
          <a:xfrm>
            <a:off x="616662" y="958773"/>
            <a:ext cx="4618005" cy="461665"/>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Conclusion</a:t>
            </a:r>
            <a:endPar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4638412-9E9D-482A-5068-122C3AB6A87F}"/>
              </a:ext>
            </a:extLst>
          </p:cNvPr>
          <p:cNvSpPr txBox="1"/>
          <p:nvPr/>
        </p:nvSpPr>
        <p:spPr>
          <a:xfrm>
            <a:off x="731724" y="1617211"/>
            <a:ext cx="10728552" cy="313932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 maximum ω is 1rad/s, assuming α to be 10</a:t>
            </a:r>
            <a:r>
              <a:rPr lang="en-US" kern="100" dirty="0">
                <a:latin typeface="Times New Roman" panose="02020603050405020304" pitchFamily="18" charset="0"/>
                <a:ea typeface="Calibri" panose="020F0502020204030204" pitchFamily="34" charset="0"/>
                <a:cs typeface="Times New Roman" panose="02020603050405020304" pitchFamily="18" charset="0"/>
              </a:rPr>
              <a:t>rad/s</a:t>
            </a:r>
            <a:r>
              <a:rPr lang="en-US" kern="1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gives us adequate timeline for changing the speeds even from 1rad/s CW to 1rad/s CCW.</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Moment of Inertia is low because of how well balanced the cad model is which is in turn bringing the power level to be very low.</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NEMA 34 stepper is found to be adequate for our requirements of the outer frame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NEMA 23 stepper is found to be adequate for our requirements of the inner frame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Given the torque requirements, we can </a:t>
            </a:r>
            <a:r>
              <a:rPr lang="en-US" dirty="0" err="1">
                <a:latin typeface="Times New Roman" panose="02020603050405020304" pitchFamily="18" charset="0"/>
                <a:cs typeface="Times New Roman" panose="02020603050405020304" pitchFamily="18" charset="0"/>
              </a:rPr>
              <a:t>infact</a:t>
            </a:r>
            <a:r>
              <a:rPr lang="en-US" dirty="0">
                <a:latin typeface="Times New Roman" panose="02020603050405020304" pitchFamily="18" charset="0"/>
                <a:cs typeface="Times New Roman" panose="02020603050405020304" pitchFamily="18" charset="0"/>
              </a:rPr>
              <a:t> go with direct drive options.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30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9FE-1E9B-AA1D-9E74-711F917DEC0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0BE1B5C-B877-F7EE-26F2-652391F2C0A9}"/>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Bill of Materials</a:t>
            </a:r>
          </a:p>
        </p:txBody>
      </p:sp>
      <p:sp>
        <p:nvSpPr>
          <p:cNvPr id="6" name="Rectangle 5">
            <a:extLst>
              <a:ext uri="{FF2B5EF4-FFF2-40B4-BE49-F238E27FC236}">
                <a16:creationId xmlns:a16="http://schemas.microsoft.com/office/drawing/2014/main" id="{8A85C82E-2EC6-11A1-8B36-2E45311DD491}"/>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111 </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A1E0CF93-700E-3219-81E1-3721974E5893}"/>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6F13F71D-5333-1EF2-D84F-9E446D1D1E57}"/>
              </a:ext>
            </a:extLst>
          </p:cNvPr>
          <p:cNvSpPr txBox="1"/>
          <p:nvPr/>
        </p:nvSpPr>
        <p:spPr>
          <a:xfrm>
            <a:off x="-241765" y="2445086"/>
            <a:ext cx="4618005" cy="369332"/>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Outer Frame Assembly Components</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47AC2A7-90DF-EA01-132C-F2F7A2F1EC95}"/>
              </a:ext>
            </a:extLst>
          </p:cNvPr>
          <p:cNvGraphicFramePr>
            <a:graphicFrameLocks noGrp="1"/>
          </p:cNvGraphicFramePr>
          <p:nvPr>
            <p:extLst>
              <p:ext uri="{D42A27DB-BD31-4B8C-83A1-F6EECF244321}">
                <p14:modId xmlns:p14="http://schemas.microsoft.com/office/powerpoint/2010/main" val="492316918"/>
              </p:ext>
            </p:extLst>
          </p:nvPr>
        </p:nvGraphicFramePr>
        <p:xfrm>
          <a:off x="1665876" y="1571351"/>
          <a:ext cx="5279209" cy="706947"/>
        </p:xfrm>
        <a:graphic>
          <a:graphicData uri="http://schemas.openxmlformats.org/drawingml/2006/table">
            <a:tbl>
              <a:tblPr firstRow="1" firstCol="1" bandRow="1">
                <a:tableStyleId>{5C22544A-7EE6-4342-B048-85BDC9FD1C3A}</a:tableStyleId>
              </a:tblPr>
              <a:tblGrid>
                <a:gridCol w="710337">
                  <a:extLst>
                    <a:ext uri="{9D8B030D-6E8A-4147-A177-3AD203B41FA5}">
                      <a16:colId xmlns:a16="http://schemas.microsoft.com/office/drawing/2014/main" val="3837513167"/>
                    </a:ext>
                  </a:extLst>
                </a:gridCol>
                <a:gridCol w="1207086">
                  <a:extLst>
                    <a:ext uri="{9D8B030D-6E8A-4147-A177-3AD203B41FA5}">
                      <a16:colId xmlns:a16="http://schemas.microsoft.com/office/drawing/2014/main" val="4012604120"/>
                    </a:ext>
                  </a:extLst>
                </a:gridCol>
                <a:gridCol w="913774">
                  <a:extLst>
                    <a:ext uri="{9D8B030D-6E8A-4147-A177-3AD203B41FA5}">
                      <a16:colId xmlns:a16="http://schemas.microsoft.com/office/drawing/2014/main" val="2914225662"/>
                    </a:ext>
                  </a:extLst>
                </a:gridCol>
                <a:gridCol w="2448012">
                  <a:extLst>
                    <a:ext uri="{9D8B030D-6E8A-4147-A177-3AD203B41FA5}">
                      <a16:colId xmlns:a16="http://schemas.microsoft.com/office/drawing/2014/main" val="1319807842"/>
                    </a:ext>
                  </a:extLst>
                </a:gridCol>
              </a:tblGrid>
              <a:tr h="0">
                <a:tc>
                  <a:txBody>
                    <a:bodyPr/>
                    <a:lstStyle/>
                    <a:p>
                      <a:pPr>
                        <a:lnSpc>
                          <a:spcPct val="107000"/>
                        </a:lnSpc>
                        <a:spcAft>
                          <a:spcPts val="800"/>
                        </a:spcAft>
                        <a:buNone/>
                      </a:pPr>
                      <a:r>
                        <a:rPr lang="en-US" sz="1500" kern="100" dirty="0">
                          <a:effectLst/>
                        </a:rPr>
                        <a:t>Sr 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Part 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Material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5772192"/>
                  </a:ext>
                </a:extLst>
              </a:tr>
              <a:tr h="0">
                <a:tc>
                  <a:txBody>
                    <a:bodyPr/>
                    <a:lstStyle/>
                    <a:p>
                      <a:pPr>
                        <a:lnSpc>
                          <a:spcPct val="107000"/>
                        </a:lnSpc>
                        <a:spcAft>
                          <a:spcPts val="800"/>
                        </a:spcAft>
                        <a:buNone/>
                      </a:pPr>
                      <a:r>
                        <a:rPr lang="en-US" sz="1500" kern="100" dirty="0">
                          <a:effectLst/>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Stand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1inch structural steel sheet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2010536"/>
                  </a:ext>
                </a:extLst>
              </a:tr>
              <a:tr h="0">
                <a:tc>
                  <a:txBody>
                    <a:bodyPr/>
                    <a:lstStyle/>
                    <a:p>
                      <a:pPr>
                        <a:lnSpc>
                          <a:spcPct val="107000"/>
                        </a:lnSpc>
                        <a:spcAft>
                          <a:spcPts val="800"/>
                        </a:spcAft>
                        <a:buNone/>
                      </a:pPr>
                      <a:r>
                        <a:rPr lang="en-US" sz="1500" kern="100" dirty="0">
                          <a:effectLst/>
                        </a:rPr>
                        <a:t>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Base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1inch structural steel sheet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5696586"/>
                  </a:ext>
                </a:extLst>
              </a:tr>
            </a:tbl>
          </a:graphicData>
        </a:graphic>
      </p:graphicFrame>
      <p:sp>
        <p:nvSpPr>
          <p:cNvPr id="4" name="TextBox 3">
            <a:extLst>
              <a:ext uri="{FF2B5EF4-FFF2-40B4-BE49-F238E27FC236}">
                <a16:creationId xmlns:a16="http://schemas.microsoft.com/office/drawing/2014/main" id="{B2713B8F-49CB-4ED9-1DF8-23BB9D54B0D4}"/>
              </a:ext>
            </a:extLst>
          </p:cNvPr>
          <p:cNvSpPr txBox="1"/>
          <p:nvPr/>
        </p:nvSpPr>
        <p:spPr>
          <a:xfrm>
            <a:off x="-231063" y="1219897"/>
            <a:ext cx="4618005" cy="369332"/>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Base Assembly Components</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C67E8DFC-DC11-1411-4651-B059D7EF5E66}"/>
              </a:ext>
            </a:extLst>
          </p:cNvPr>
          <p:cNvGraphicFramePr>
            <a:graphicFrameLocks noGrp="1"/>
          </p:cNvGraphicFramePr>
          <p:nvPr>
            <p:extLst>
              <p:ext uri="{D42A27DB-BD31-4B8C-83A1-F6EECF244321}">
                <p14:modId xmlns:p14="http://schemas.microsoft.com/office/powerpoint/2010/main" val="986723475"/>
              </p:ext>
            </p:extLst>
          </p:nvPr>
        </p:nvGraphicFramePr>
        <p:xfrm>
          <a:off x="1665876" y="2805300"/>
          <a:ext cx="6204496" cy="942596"/>
        </p:xfrm>
        <a:graphic>
          <a:graphicData uri="http://schemas.openxmlformats.org/drawingml/2006/table">
            <a:tbl>
              <a:tblPr firstRow="1" firstCol="1" bandRow="1">
                <a:tableStyleId>{5C22544A-7EE6-4342-B048-85BDC9FD1C3A}</a:tableStyleId>
              </a:tblPr>
              <a:tblGrid>
                <a:gridCol w="663001">
                  <a:extLst>
                    <a:ext uri="{9D8B030D-6E8A-4147-A177-3AD203B41FA5}">
                      <a16:colId xmlns:a16="http://schemas.microsoft.com/office/drawing/2014/main" val="1352974358"/>
                    </a:ext>
                  </a:extLst>
                </a:gridCol>
                <a:gridCol w="1426239">
                  <a:extLst>
                    <a:ext uri="{9D8B030D-6E8A-4147-A177-3AD203B41FA5}">
                      <a16:colId xmlns:a16="http://schemas.microsoft.com/office/drawing/2014/main" val="2649089589"/>
                    </a:ext>
                  </a:extLst>
                </a:gridCol>
                <a:gridCol w="939770">
                  <a:extLst>
                    <a:ext uri="{9D8B030D-6E8A-4147-A177-3AD203B41FA5}">
                      <a16:colId xmlns:a16="http://schemas.microsoft.com/office/drawing/2014/main" val="3655988834"/>
                    </a:ext>
                  </a:extLst>
                </a:gridCol>
                <a:gridCol w="3175486">
                  <a:extLst>
                    <a:ext uri="{9D8B030D-6E8A-4147-A177-3AD203B41FA5}">
                      <a16:colId xmlns:a16="http://schemas.microsoft.com/office/drawing/2014/main" val="3622582240"/>
                    </a:ext>
                  </a:extLst>
                </a:gridCol>
              </a:tblGrid>
              <a:tr h="0">
                <a:tc>
                  <a:txBody>
                    <a:bodyPr/>
                    <a:lstStyle/>
                    <a:p>
                      <a:pPr>
                        <a:lnSpc>
                          <a:spcPct val="107000"/>
                        </a:lnSpc>
                        <a:spcAft>
                          <a:spcPts val="800"/>
                        </a:spcAft>
                        <a:buNone/>
                      </a:pPr>
                      <a:r>
                        <a:rPr lang="en-IN" sz="1500" kern="100">
                          <a:effectLst/>
                        </a:rPr>
                        <a:t>Sr 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Part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Material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630865"/>
                  </a:ext>
                </a:extLst>
              </a:tr>
              <a:tr h="0">
                <a:tc>
                  <a:txBody>
                    <a:bodyPr/>
                    <a:lstStyle/>
                    <a:p>
                      <a:pPr>
                        <a:lnSpc>
                          <a:spcPct val="107000"/>
                        </a:lnSpc>
                        <a:spcAft>
                          <a:spcPts val="800"/>
                        </a:spcAft>
                        <a:buNone/>
                      </a:pPr>
                      <a:r>
                        <a:rPr lang="en-IN" sz="1500" kern="100" dirty="0">
                          <a:effectLst/>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Frame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2x2 inch aluminium beam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7867048"/>
                  </a:ext>
                </a:extLst>
              </a:tr>
              <a:tr h="0">
                <a:tc>
                  <a:txBody>
                    <a:bodyPr/>
                    <a:lstStyle/>
                    <a:p>
                      <a:pPr>
                        <a:lnSpc>
                          <a:spcPct val="107000"/>
                        </a:lnSpc>
                        <a:spcAft>
                          <a:spcPts val="800"/>
                        </a:spcAft>
                        <a:buNone/>
                      </a:pPr>
                      <a:r>
                        <a:rPr lang="en-IN"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Axle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Φ20 150.8mm Structural Steel Shaft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9233395"/>
                  </a:ext>
                </a:extLst>
              </a:tr>
              <a:tr h="0">
                <a:tc>
                  <a:txBody>
                    <a:bodyPr/>
                    <a:lstStyle/>
                    <a:p>
                      <a:pPr>
                        <a:lnSpc>
                          <a:spcPct val="107000"/>
                        </a:lnSpc>
                        <a:spcAft>
                          <a:spcPts val="800"/>
                        </a:spcAft>
                        <a:buNone/>
                      </a:pPr>
                      <a:r>
                        <a:rPr lang="en-IN" sz="1500" kern="100">
                          <a:effectLst/>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Flange Bearing</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Φ 20mm ID flange bearing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3443811"/>
                  </a:ext>
                </a:extLst>
              </a:tr>
            </a:tbl>
          </a:graphicData>
        </a:graphic>
      </p:graphicFrame>
      <p:sp>
        <p:nvSpPr>
          <p:cNvPr id="9" name="TextBox 8">
            <a:extLst>
              <a:ext uri="{FF2B5EF4-FFF2-40B4-BE49-F238E27FC236}">
                <a16:creationId xmlns:a16="http://schemas.microsoft.com/office/drawing/2014/main" id="{F70DFE6D-E67E-A4B2-F7DC-0D5EF1DB5693}"/>
              </a:ext>
            </a:extLst>
          </p:cNvPr>
          <p:cNvSpPr txBox="1"/>
          <p:nvPr/>
        </p:nvSpPr>
        <p:spPr>
          <a:xfrm>
            <a:off x="-241768" y="3849338"/>
            <a:ext cx="4618005" cy="369332"/>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Inner Frame Assembly Components</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6B3B4324-8124-5BEA-E7D3-AFC7EF1B5B9F}"/>
              </a:ext>
            </a:extLst>
          </p:cNvPr>
          <p:cNvGraphicFramePr>
            <a:graphicFrameLocks noGrp="1"/>
          </p:cNvGraphicFramePr>
          <p:nvPr>
            <p:extLst>
              <p:ext uri="{D42A27DB-BD31-4B8C-83A1-F6EECF244321}">
                <p14:modId xmlns:p14="http://schemas.microsoft.com/office/powerpoint/2010/main" val="659353194"/>
              </p:ext>
            </p:extLst>
          </p:nvPr>
        </p:nvGraphicFramePr>
        <p:xfrm>
          <a:off x="1665875" y="4205263"/>
          <a:ext cx="6204496" cy="942596"/>
        </p:xfrm>
        <a:graphic>
          <a:graphicData uri="http://schemas.openxmlformats.org/drawingml/2006/table">
            <a:tbl>
              <a:tblPr firstRow="1" firstCol="1" bandRow="1">
                <a:tableStyleId>{5C22544A-7EE6-4342-B048-85BDC9FD1C3A}</a:tableStyleId>
              </a:tblPr>
              <a:tblGrid>
                <a:gridCol w="631011">
                  <a:extLst>
                    <a:ext uri="{9D8B030D-6E8A-4147-A177-3AD203B41FA5}">
                      <a16:colId xmlns:a16="http://schemas.microsoft.com/office/drawing/2014/main" val="2691766063"/>
                    </a:ext>
                  </a:extLst>
                </a:gridCol>
                <a:gridCol w="1382485">
                  <a:extLst>
                    <a:ext uri="{9D8B030D-6E8A-4147-A177-3AD203B41FA5}">
                      <a16:colId xmlns:a16="http://schemas.microsoft.com/office/drawing/2014/main" val="2441334688"/>
                    </a:ext>
                  </a:extLst>
                </a:gridCol>
                <a:gridCol w="1034143">
                  <a:extLst>
                    <a:ext uri="{9D8B030D-6E8A-4147-A177-3AD203B41FA5}">
                      <a16:colId xmlns:a16="http://schemas.microsoft.com/office/drawing/2014/main" val="2943773169"/>
                    </a:ext>
                  </a:extLst>
                </a:gridCol>
                <a:gridCol w="3156857">
                  <a:extLst>
                    <a:ext uri="{9D8B030D-6E8A-4147-A177-3AD203B41FA5}">
                      <a16:colId xmlns:a16="http://schemas.microsoft.com/office/drawing/2014/main" val="1513931190"/>
                    </a:ext>
                  </a:extLst>
                </a:gridCol>
              </a:tblGrid>
              <a:tr h="0">
                <a:tc>
                  <a:txBody>
                    <a:bodyPr/>
                    <a:lstStyle/>
                    <a:p>
                      <a:pPr>
                        <a:lnSpc>
                          <a:spcPct val="107000"/>
                        </a:lnSpc>
                        <a:spcAft>
                          <a:spcPts val="800"/>
                        </a:spcAft>
                        <a:buNone/>
                      </a:pPr>
                      <a:r>
                        <a:rPr lang="en-IN" sz="1500" kern="100">
                          <a:effectLst/>
                        </a:rPr>
                        <a:t>Sr 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Part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Material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6689341"/>
                  </a:ext>
                </a:extLst>
              </a:tr>
              <a:tr h="0">
                <a:tc>
                  <a:txBody>
                    <a:bodyPr/>
                    <a:lstStyle/>
                    <a:p>
                      <a:pPr>
                        <a:lnSpc>
                          <a:spcPct val="107000"/>
                        </a:lnSpc>
                        <a:spcAft>
                          <a:spcPts val="800"/>
                        </a:spcAft>
                        <a:buNone/>
                      </a:pPr>
                      <a:r>
                        <a:rPr lang="en-IN" sz="15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Frame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2x2 inch aluminium beam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759607"/>
                  </a:ext>
                </a:extLst>
              </a:tr>
              <a:tr h="0">
                <a:tc>
                  <a:txBody>
                    <a:bodyPr/>
                    <a:lstStyle/>
                    <a:p>
                      <a:pPr>
                        <a:lnSpc>
                          <a:spcPct val="107000"/>
                        </a:lnSpc>
                        <a:spcAft>
                          <a:spcPts val="800"/>
                        </a:spcAft>
                        <a:buNone/>
                      </a:pPr>
                      <a:r>
                        <a:rPr lang="en-IN"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Axle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Φ20 160.3mm Structural Steel Shaft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011732"/>
                  </a:ext>
                </a:extLst>
              </a:tr>
              <a:tr h="0">
                <a:tc>
                  <a:txBody>
                    <a:bodyPr/>
                    <a:lstStyle/>
                    <a:p>
                      <a:pPr>
                        <a:lnSpc>
                          <a:spcPct val="107000"/>
                        </a:lnSpc>
                        <a:spcAft>
                          <a:spcPts val="800"/>
                        </a:spcAft>
                        <a:buNone/>
                      </a:pPr>
                      <a:r>
                        <a:rPr lang="en-IN" sz="1500" kern="100">
                          <a:effectLst/>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Flange Bearing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Φ 20mm ID flange bearing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4908215"/>
                  </a:ext>
                </a:extLst>
              </a:tr>
            </a:tbl>
          </a:graphicData>
        </a:graphic>
      </p:graphicFrame>
      <p:sp>
        <p:nvSpPr>
          <p:cNvPr id="14" name="TextBox 13">
            <a:extLst>
              <a:ext uri="{FF2B5EF4-FFF2-40B4-BE49-F238E27FC236}">
                <a16:creationId xmlns:a16="http://schemas.microsoft.com/office/drawing/2014/main" id="{175B70DC-E01D-97CE-4C88-9AEA0103AD9E}"/>
              </a:ext>
            </a:extLst>
          </p:cNvPr>
          <p:cNvSpPr txBox="1"/>
          <p:nvPr/>
        </p:nvSpPr>
        <p:spPr>
          <a:xfrm>
            <a:off x="-176456" y="5220943"/>
            <a:ext cx="4618005" cy="369332"/>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Payload Assembly Components</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76DA0CB3-6AC2-7826-D527-973A89CAA135}"/>
              </a:ext>
            </a:extLst>
          </p:cNvPr>
          <p:cNvGraphicFramePr>
            <a:graphicFrameLocks noGrp="1"/>
          </p:cNvGraphicFramePr>
          <p:nvPr>
            <p:extLst>
              <p:ext uri="{D42A27DB-BD31-4B8C-83A1-F6EECF244321}">
                <p14:modId xmlns:p14="http://schemas.microsoft.com/office/powerpoint/2010/main" val="2567435082"/>
              </p:ext>
            </p:extLst>
          </p:nvPr>
        </p:nvGraphicFramePr>
        <p:xfrm>
          <a:off x="1665875" y="5545544"/>
          <a:ext cx="6367782" cy="706947"/>
        </p:xfrm>
        <a:graphic>
          <a:graphicData uri="http://schemas.openxmlformats.org/drawingml/2006/table">
            <a:tbl>
              <a:tblPr firstRow="1" firstCol="1" bandRow="1">
                <a:tableStyleId>{5C22544A-7EE6-4342-B048-85BDC9FD1C3A}</a:tableStyleId>
              </a:tblPr>
              <a:tblGrid>
                <a:gridCol w="636445">
                  <a:extLst>
                    <a:ext uri="{9D8B030D-6E8A-4147-A177-3AD203B41FA5}">
                      <a16:colId xmlns:a16="http://schemas.microsoft.com/office/drawing/2014/main" val="1227723989"/>
                    </a:ext>
                  </a:extLst>
                </a:gridCol>
                <a:gridCol w="1692737">
                  <a:extLst>
                    <a:ext uri="{9D8B030D-6E8A-4147-A177-3AD203B41FA5}">
                      <a16:colId xmlns:a16="http://schemas.microsoft.com/office/drawing/2014/main" val="415480068"/>
                    </a:ext>
                  </a:extLst>
                </a:gridCol>
                <a:gridCol w="870857">
                  <a:extLst>
                    <a:ext uri="{9D8B030D-6E8A-4147-A177-3AD203B41FA5}">
                      <a16:colId xmlns:a16="http://schemas.microsoft.com/office/drawing/2014/main" val="3575874300"/>
                    </a:ext>
                  </a:extLst>
                </a:gridCol>
                <a:gridCol w="3167743">
                  <a:extLst>
                    <a:ext uri="{9D8B030D-6E8A-4147-A177-3AD203B41FA5}">
                      <a16:colId xmlns:a16="http://schemas.microsoft.com/office/drawing/2014/main" val="2729922975"/>
                    </a:ext>
                  </a:extLst>
                </a:gridCol>
              </a:tblGrid>
              <a:tr h="0">
                <a:tc>
                  <a:txBody>
                    <a:bodyPr/>
                    <a:lstStyle/>
                    <a:p>
                      <a:pPr>
                        <a:lnSpc>
                          <a:spcPct val="107000"/>
                        </a:lnSpc>
                        <a:spcAft>
                          <a:spcPts val="800"/>
                        </a:spcAft>
                        <a:buNone/>
                      </a:pPr>
                      <a:r>
                        <a:rPr lang="en-IN" sz="1500" kern="100">
                          <a:effectLst/>
                        </a:rPr>
                        <a:t>Sr 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dirty="0">
                          <a:effectLst/>
                        </a:rPr>
                        <a:t>Part 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rPr>
                        <a:t>Material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0344140"/>
                  </a:ext>
                </a:extLst>
              </a:tr>
              <a:tr h="0">
                <a:tc>
                  <a:txBody>
                    <a:bodyPr/>
                    <a:lstStyle/>
                    <a:p>
                      <a:pPr>
                        <a:lnSpc>
                          <a:spcPct val="107000"/>
                        </a:lnSpc>
                        <a:spcAft>
                          <a:spcPts val="800"/>
                        </a:spcAft>
                        <a:buNone/>
                      </a:pPr>
                      <a:r>
                        <a:rPr lang="en-IN" sz="15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Payload Assembly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4 180*180*20 Polycarbonate Sheets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9574935"/>
                  </a:ext>
                </a:extLst>
              </a:tr>
              <a:tr h="0">
                <a:tc>
                  <a:txBody>
                    <a:bodyPr/>
                    <a:lstStyle/>
                    <a:p>
                      <a:pPr>
                        <a:lnSpc>
                          <a:spcPct val="107000"/>
                        </a:lnSpc>
                        <a:spcAft>
                          <a:spcPts val="800"/>
                        </a:spcAft>
                        <a:buNone/>
                      </a:pPr>
                      <a:r>
                        <a:rPr lang="en-IN"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Pins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rPr>
                        <a:t>Φ10 350mm Structural Steel Shaft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2340819"/>
                  </a:ext>
                </a:extLst>
              </a:tr>
            </a:tbl>
          </a:graphicData>
        </a:graphic>
      </p:graphicFrame>
      <p:sp>
        <p:nvSpPr>
          <p:cNvPr id="20" name="TextBox 19">
            <a:extLst>
              <a:ext uri="{FF2B5EF4-FFF2-40B4-BE49-F238E27FC236}">
                <a16:creationId xmlns:a16="http://schemas.microsoft.com/office/drawing/2014/main" id="{6B860AB0-4C06-E46C-CC97-FBCDF151E030}"/>
              </a:ext>
            </a:extLst>
          </p:cNvPr>
          <p:cNvSpPr txBox="1"/>
          <p:nvPr/>
        </p:nvSpPr>
        <p:spPr>
          <a:xfrm>
            <a:off x="2630263" y="6284277"/>
            <a:ext cx="417330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Table 4: Bill of Materials of the Payload Sub-Assembly</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1" name="TextBox 20">
            <a:extLst>
              <a:ext uri="{FF2B5EF4-FFF2-40B4-BE49-F238E27FC236}">
                <a16:creationId xmlns:a16="http://schemas.microsoft.com/office/drawing/2014/main" id="{909E3920-73DD-DF23-F543-C522C7EC14F3}"/>
              </a:ext>
            </a:extLst>
          </p:cNvPr>
          <p:cNvSpPr txBox="1"/>
          <p:nvPr/>
        </p:nvSpPr>
        <p:spPr>
          <a:xfrm>
            <a:off x="2531351" y="5119725"/>
            <a:ext cx="417330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Table 3: Bill of Materials of the Inner Frame Sub-Assembly</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a:extLst>
              <a:ext uri="{FF2B5EF4-FFF2-40B4-BE49-F238E27FC236}">
                <a16:creationId xmlns:a16="http://schemas.microsoft.com/office/drawing/2014/main" id="{458CEA13-643A-0F77-78F1-31857778E648}"/>
              </a:ext>
            </a:extLst>
          </p:cNvPr>
          <p:cNvSpPr txBox="1"/>
          <p:nvPr/>
        </p:nvSpPr>
        <p:spPr>
          <a:xfrm>
            <a:off x="2531351" y="3747896"/>
            <a:ext cx="417330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Table 2: Bill of Materials of the Outer Frame Sub-Assembly</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3" name="TextBox 22">
            <a:extLst>
              <a:ext uri="{FF2B5EF4-FFF2-40B4-BE49-F238E27FC236}">
                <a16:creationId xmlns:a16="http://schemas.microsoft.com/office/drawing/2014/main" id="{E6B40FDA-E786-696E-38D3-48CAACDA399B}"/>
              </a:ext>
            </a:extLst>
          </p:cNvPr>
          <p:cNvSpPr txBox="1"/>
          <p:nvPr/>
        </p:nvSpPr>
        <p:spPr>
          <a:xfrm>
            <a:off x="2466042" y="2311116"/>
            <a:ext cx="417330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Table 1: Bill of Materials of the Base Sub-Assembly</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8993728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FCE13-C546-EE54-04C7-3345576186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BBA025D-480C-756C-FBEE-BA51B86F7889}"/>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8E8E8"/>
                </a:solidFill>
                <a:effectLst/>
                <a:uLnTx/>
                <a:uFillTx/>
                <a:latin typeface="Times New Roman" panose="02020603050405020304" pitchFamily="18" charset="0"/>
                <a:ea typeface="Tahoma" panose="020B0604030504040204" pitchFamily="34" charset="0"/>
                <a:cs typeface="Times New Roman" panose="02020603050405020304" pitchFamily="18" charset="0"/>
              </a:rPr>
              <a:t>Bill of Materials</a:t>
            </a:r>
          </a:p>
        </p:txBody>
      </p:sp>
      <p:sp>
        <p:nvSpPr>
          <p:cNvPr id="6" name="Rectangle 5">
            <a:extLst>
              <a:ext uri="{FF2B5EF4-FFF2-40B4-BE49-F238E27FC236}">
                <a16:creationId xmlns:a16="http://schemas.microsoft.com/office/drawing/2014/main" id="{E7A1A788-8C14-9969-1061-E59A52566161}"/>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E8E8E8"/>
                </a:solidFill>
                <a:effectLst/>
                <a:uLnTx/>
                <a:uFillTx/>
                <a:latin typeface="Times New Roman" panose="02020603050405020304" pitchFamily="18" charset="0"/>
                <a:ea typeface="+mn-ea"/>
                <a:cs typeface="Times New Roman" panose="02020603050405020304" pitchFamily="18" charset="0"/>
              </a:rPr>
              <a:t>Slide : 12</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A575EF1-29E2-E73C-8E22-7E2AF04AF7B3}"/>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70440CF-1DB6-71EB-0D85-4515061C3B03}"/>
              </a:ext>
            </a:extLst>
          </p:cNvPr>
          <p:cNvSpPr txBox="1"/>
          <p:nvPr/>
        </p:nvSpPr>
        <p:spPr>
          <a:xfrm>
            <a:off x="-231063" y="1219897"/>
            <a:ext cx="4618005" cy="369332"/>
          </a:xfrm>
          <a:prstGeom prst="rect">
            <a:avLst/>
          </a:prstGeom>
          <a:noFill/>
        </p:spPr>
        <p:txBody>
          <a:bodyPr wrap="square" rtlCol="0">
            <a:spAutoFit/>
          </a:bodyPr>
          <a:lstStyle/>
          <a:p>
            <a:pPr marL="357187"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Electrical Components</a:t>
            </a:r>
            <a:endPar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1D250CB-AD26-0FF1-D12D-228ED03A1400}"/>
              </a:ext>
            </a:extLst>
          </p:cNvPr>
          <p:cNvGraphicFramePr>
            <a:graphicFrameLocks noGrp="1"/>
          </p:cNvGraphicFramePr>
          <p:nvPr>
            <p:extLst>
              <p:ext uri="{D42A27DB-BD31-4B8C-83A1-F6EECF244321}">
                <p14:modId xmlns:p14="http://schemas.microsoft.com/office/powerpoint/2010/main" val="3205751641"/>
              </p:ext>
            </p:extLst>
          </p:nvPr>
        </p:nvGraphicFramePr>
        <p:xfrm>
          <a:off x="1673948" y="1678690"/>
          <a:ext cx="4784001" cy="2807730"/>
        </p:xfrm>
        <a:graphic>
          <a:graphicData uri="http://schemas.openxmlformats.org/drawingml/2006/table">
            <a:tbl>
              <a:tblPr firstRow="1" firstCol="1" bandRow="1">
                <a:tableStyleId>{5C22544A-7EE6-4342-B048-85BDC9FD1C3A}</a:tableStyleId>
              </a:tblPr>
              <a:tblGrid>
                <a:gridCol w="752376">
                  <a:extLst>
                    <a:ext uri="{9D8B030D-6E8A-4147-A177-3AD203B41FA5}">
                      <a16:colId xmlns:a16="http://schemas.microsoft.com/office/drawing/2014/main" val="3855992879"/>
                    </a:ext>
                  </a:extLst>
                </a:gridCol>
                <a:gridCol w="2984953">
                  <a:extLst>
                    <a:ext uri="{9D8B030D-6E8A-4147-A177-3AD203B41FA5}">
                      <a16:colId xmlns:a16="http://schemas.microsoft.com/office/drawing/2014/main" val="3745021896"/>
                    </a:ext>
                  </a:extLst>
                </a:gridCol>
                <a:gridCol w="1046672">
                  <a:extLst>
                    <a:ext uri="{9D8B030D-6E8A-4147-A177-3AD203B41FA5}">
                      <a16:colId xmlns:a16="http://schemas.microsoft.com/office/drawing/2014/main" val="1055132358"/>
                    </a:ext>
                  </a:extLst>
                </a:gridCol>
              </a:tblGrid>
              <a:tr h="311970">
                <a:tc>
                  <a:txBody>
                    <a:bodyPr/>
                    <a:lstStyle/>
                    <a:p>
                      <a:pPr>
                        <a:lnSpc>
                          <a:spcPct val="107000"/>
                        </a:lnSpc>
                        <a:spcAft>
                          <a:spcPts val="800"/>
                        </a:spcAft>
                        <a:buNone/>
                      </a:pPr>
                      <a:r>
                        <a:rPr lang="en-IN" sz="1500" kern="100" dirty="0">
                          <a:effectLst/>
                          <a:latin typeface="Times New Roman" panose="02020603050405020304" pitchFamily="18" charset="0"/>
                          <a:cs typeface="Times New Roman" panose="02020603050405020304" pitchFamily="18" charset="0"/>
                        </a:rPr>
                        <a:t>Sr No</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latin typeface="Times New Roman" panose="02020603050405020304" pitchFamily="18" charset="0"/>
                          <a:cs typeface="Times New Roman" panose="02020603050405020304" pitchFamily="18" charset="0"/>
                        </a:rPr>
                        <a:t>Part Name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500" kern="100">
                          <a:effectLst/>
                          <a:latin typeface="Times New Roman" panose="02020603050405020304" pitchFamily="18" charset="0"/>
                          <a:cs typeface="Times New Roman" panose="02020603050405020304" pitchFamily="18" charset="0"/>
                        </a:rPr>
                        <a:t>Number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0765916"/>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1</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Slip Rings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7068653"/>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Nema 23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3899099"/>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Nema 34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7847074"/>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Arduino Uno Microcontroller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1</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1131643"/>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Raspberry Pico</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1</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2567708"/>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Motor Driver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5512656"/>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Jumper Wires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 </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7047596"/>
                  </a:ext>
                </a:extLst>
              </a:tr>
              <a:tr h="311970">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8</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a:effectLst/>
                          <a:latin typeface="Times New Roman" panose="02020603050405020304" pitchFamily="18" charset="0"/>
                          <a:cs typeface="Times New Roman" panose="02020603050405020304" pitchFamily="18" charset="0"/>
                        </a:rPr>
                        <a:t>Wires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500" kern="100" dirty="0">
                          <a:effectLst/>
                          <a:latin typeface="Times New Roman" panose="02020603050405020304" pitchFamily="18" charset="0"/>
                          <a:cs typeface="Times New Roman" panose="02020603050405020304" pitchFamily="18" charset="0"/>
                        </a:rPr>
                        <a:t> </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7587225"/>
                  </a:ext>
                </a:extLst>
              </a:tr>
            </a:tbl>
          </a:graphicData>
        </a:graphic>
      </p:graphicFrame>
      <p:sp>
        <p:nvSpPr>
          <p:cNvPr id="12" name="TextBox 11">
            <a:extLst>
              <a:ext uri="{FF2B5EF4-FFF2-40B4-BE49-F238E27FC236}">
                <a16:creationId xmlns:a16="http://schemas.microsoft.com/office/drawing/2014/main" id="{22D007CE-3F1F-0D6F-C1C9-9A7C57DB44FB}"/>
              </a:ext>
            </a:extLst>
          </p:cNvPr>
          <p:cNvSpPr txBox="1"/>
          <p:nvPr/>
        </p:nvSpPr>
        <p:spPr>
          <a:xfrm>
            <a:off x="2465617" y="4575881"/>
            <a:ext cx="417330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Table 5 : Bill of Materials of the Electronic </a:t>
            </a:r>
            <a:r>
              <a:rPr kumimoji="0" lang="en-US" sz="1100" b="0" i="1" u="none" strike="noStrike" kern="1200" cap="none" spc="0" normalizeH="0" baseline="0" noProof="0" dirty="0" err="1">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Componets</a:t>
            </a:r>
            <a:endParaRPr kumimoji="0" lang="en-IN" sz="11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245292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DD234-C12E-D089-B242-01A7EFF56C1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AE345A0-0B01-265A-F831-666CFC7CA7D0}"/>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Sample Point Trajectory Analysis in a Random Positioning Machine</a:t>
            </a:r>
            <a:endPar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17F95C5A-2E05-94FE-BE33-D23E38FEBFDE}"/>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13</a:t>
            </a:r>
          </a:p>
          <a:p>
            <a:pPr algn="r"/>
            <a:endParaRPr lang="en-GB" sz="1400" noProof="0" dirty="0"/>
          </a:p>
        </p:txBody>
      </p:sp>
      <p:sp>
        <p:nvSpPr>
          <p:cNvPr id="7" name="Rectangle 6">
            <a:extLst>
              <a:ext uri="{FF2B5EF4-FFF2-40B4-BE49-F238E27FC236}">
                <a16:creationId xmlns:a16="http://schemas.microsoft.com/office/drawing/2014/main" id="{FA589176-89C0-CCDC-A54B-7730D09A2A3A}"/>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EE7E2F2-38E9-DE00-BBCD-366E44E81DE6}"/>
              </a:ext>
            </a:extLst>
          </p:cNvPr>
          <p:cNvSpPr txBox="1"/>
          <p:nvPr/>
        </p:nvSpPr>
        <p:spPr>
          <a:xfrm>
            <a:off x="217922" y="1155547"/>
            <a:ext cx="11622144" cy="1754326"/>
          </a:xfrm>
          <a:prstGeom prst="rect">
            <a:avLst/>
          </a:prstGeom>
          <a:noFill/>
        </p:spPr>
        <p:txBody>
          <a:bodyPr wrap="square" rtlCol="0">
            <a:spAutoFit/>
          </a:bodyPr>
          <a:lstStyle/>
          <a:p>
            <a:pPr marL="642937"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Inputs:</a:t>
            </a:r>
            <a:r>
              <a:rPr lang="en-US" dirty="0">
                <a:latin typeface="Times New Roman" panose="02020603050405020304" pitchFamily="18" charset="0"/>
                <a:ea typeface="Tahoma" panose="020B0604030504040204" pitchFamily="34" charset="0"/>
                <a:cs typeface="Times New Roman" panose="02020603050405020304" pitchFamily="18" charset="0"/>
              </a:rPr>
              <a:t> Simulation inputs include time settings, motor speed/acceleration limits, gravity direction, and the sample point’s initial position.</a:t>
            </a:r>
          </a:p>
          <a:p>
            <a:pPr marL="642937"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How it Was Done: </a:t>
            </a:r>
            <a:r>
              <a:rPr lang="en-US" dirty="0">
                <a:latin typeface="Times New Roman" panose="02020603050405020304" pitchFamily="18" charset="0"/>
                <a:ea typeface="Tahoma" panose="020B0604030504040204" pitchFamily="34" charset="0"/>
                <a:cs typeface="Times New Roman" panose="02020603050405020304" pitchFamily="18" charset="0"/>
              </a:rPr>
              <a:t>The model randomly updates motor rotations, computes the resulting orientations, transforms gravity, calculates centripetal effects, and logs the sample point’s 3D position at every timestep.</a:t>
            </a:r>
          </a:p>
          <a:p>
            <a:pPr marL="642937"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Key Code Snippet </a:t>
            </a:r>
            <a:r>
              <a:rPr lang="en-US" dirty="0">
                <a:latin typeface="Times New Roman" panose="02020603050405020304" pitchFamily="18" charset="0"/>
                <a:ea typeface="Tahoma" panose="020B0604030504040204" pitchFamily="34" charset="0"/>
                <a:cs typeface="Times New Roman" panose="02020603050405020304" pitchFamily="18" charset="0"/>
              </a:rPr>
              <a:t>(Description): The main loop updates angular velocities, constructs rotation matrices, transforms gravity into the payload frame, and computes the sample point’s inertial-frame coordinates.</a:t>
            </a:r>
          </a:p>
        </p:txBody>
      </p:sp>
      <p:sp>
        <p:nvSpPr>
          <p:cNvPr id="11" name="TextBox 10">
            <a:extLst>
              <a:ext uri="{FF2B5EF4-FFF2-40B4-BE49-F238E27FC236}">
                <a16:creationId xmlns:a16="http://schemas.microsoft.com/office/drawing/2014/main" id="{57CB8B14-D04A-CA1E-02F2-283C4E8B46D9}"/>
              </a:ext>
            </a:extLst>
          </p:cNvPr>
          <p:cNvSpPr txBox="1"/>
          <p:nvPr/>
        </p:nvSpPr>
        <p:spPr>
          <a:xfrm>
            <a:off x="5211031" y="5936543"/>
            <a:ext cx="1769938" cy="261610"/>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6 : </a:t>
            </a:r>
            <a:r>
              <a:rPr lang="en-IN" sz="1100" i="1" dirty="0">
                <a:latin typeface="Times New Roman" panose="02020603050405020304" pitchFamily="18" charset="0"/>
                <a:ea typeface="Tahoma" panose="020B0604030504040204" pitchFamily="34" charset="0"/>
                <a:cs typeface="Times New Roman" panose="02020603050405020304" pitchFamily="18" charset="0"/>
              </a:rPr>
              <a:t>Key code snippet.</a:t>
            </a:r>
          </a:p>
        </p:txBody>
      </p:sp>
      <p:pic>
        <p:nvPicPr>
          <p:cNvPr id="2" name="Picture 1">
            <a:extLst>
              <a:ext uri="{FF2B5EF4-FFF2-40B4-BE49-F238E27FC236}">
                <a16:creationId xmlns:a16="http://schemas.microsoft.com/office/drawing/2014/main" id="{3D0A534A-14BD-181B-7760-F3165589B266}"/>
              </a:ext>
            </a:extLst>
          </p:cNvPr>
          <p:cNvPicPr>
            <a:picLocks noChangeAspect="1"/>
          </p:cNvPicPr>
          <p:nvPr/>
        </p:nvPicPr>
        <p:blipFill>
          <a:blip r:embed="rId3"/>
          <a:stretch>
            <a:fillRect/>
          </a:stretch>
        </p:blipFill>
        <p:spPr>
          <a:xfrm>
            <a:off x="4657725" y="3180361"/>
            <a:ext cx="2780391" cy="2670432"/>
          </a:xfrm>
          <a:prstGeom prst="rect">
            <a:avLst/>
          </a:prstGeom>
        </p:spPr>
      </p:pic>
    </p:spTree>
    <p:extLst>
      <p:ext uri="{BB962C8B-B14F-4D97-AF65-F5344CB8AC3E}">
        <p14:creationId xmlns:p14="http://schemas.microsoft.com/office/powerpoint/2010/main" val="3830123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290A-E2F9-5555-8408-FF3DA32A4AE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AAFF726-23F1-354E-C8B4-2EAE4044F1DC}"/>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Sample Point Trajectory Analysis in a Random Positioning Machine</a:t>
            </a:r>
            <a:endPar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FD786FAE-1381-ED57-4410-6F02E5A193F2}"/>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14</a:t>
            </a:r>
          </a:p>
          <a:p>
            <a:pPr algn="r"/>
            <a:endParaRPr lang="en-GB" sz="1400" noProof="0" dirty="0"/>
          </a:p>
        </p:txBody>
      </p:sp>
      <p:sp>
        <p:nvSpPr>
          <p:cNvPr id="7" name="Rectangle 6">
            <a:extLst>
              <a:ext uri="{FF2B5EF4-FFF2-40B4-BE49-F238E27FC236}">
                <a16:creationId xmlns:a16="http://schemas.microsoft.com/office/drawing/2014/main" id="{A6A66932-8F09-CB55-A18A-90DD72C36479}"/>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7BC4F378-44D0-9AE7-867D-1C2D153504ED}"/>
              </a:ext>
            </a:extLst>
          </p:cNvPr>
          <p:cNvPicPr>
            <a:picLocks noChangeAspect="1"/>
          </p:cNvPicPr>
          <p:nvPr/>
        </p:nvPicPr>
        <p:blipFill>
          <a:blip r:embed="rId3"/>
          <a:stretch>
            <a:fillRect/>
          </a:stretch>
        </p:blipFill>
        <p:spPr>
          <a:xfrm>
            <a:off x="6257443" y="1599717"/>
            <a:ext cx="5682670" cy="3940471"/>
          </a:xfrm>
          <a:prstGeom prst="rect">
            <a:avLst/>
          </a:prstGeom>
        </p:spPr>
      </p:pic>
      <p:sp>
        <p:nvSpPr>
          <p:cNvPr id="10" name="TextBox 9">
            <a:extLst>
              <a:ext uri="{FF2B5EF4-FFF2-40B4-BE49-F238E27FC236}">
                <a16:creationId xmlns:a16="http://schemas.microsoft.com/office/drawing/2014/main" id="{4DD0ED35-47F3-3C1D-624C-2A96022C614B}"/>
              </a:ext>
            </a:extLst>
          </p:cNvPr>
          <p:cNvSpPr txBox="1"/>
          <p:nvPr/>
        </p:nvSpPr>
        <p:spPr>
          <a:xfrm>
            <a:off x="5106317" y="6166500"/>
            <a:ext cx="1769938" cy="261610"/>
          </a:xfrm>
          <a:prstGeom prst="rect">
            <a:avLst/>
          </a:prstGeom>
          <a:noFill/>
        </p:spPr>
        <p:txBody>
          <a:bodyPr wrap="square" rtlCol="0">
            <a:spAutoFit/>
          </a:bodyPr>
          <a:lstStyle/>
          <a:p>
            <a:r>
              <a:rPr lang="en-GB" sz="1100" i="1" dirty="0">
                <a:latin typeface="Times New Roman" panose="02020603050405020304" pitchFamily="18" charset="0"/>
                <a:ea typeface="Tahoma" panose="020B0604030504040204" pitchFamily="34" charset="0"/>
                <a:cs typeface="Times New Roman" panose="02020603050405020304" pitchFamily="18" charset="0"/>
              </a:rPr>
              <a:t>Fig 7 : </a:t>
            </a:r>
            <a:r>
              <a:rPr lang="en-IN" sz="1100" i="1" dirty="0">
                <a:latin typeface="Times New Roman" panose="02020603050405020304" pitchFamily="18" charset="0"/>
                <a:ea typeface="Tahoma" panose="020B0604030504040204" pitchFamily="34" charset="0"/>
                <a:cs typeface="Times New Roman" panose="02020603050405020304" pitchFamily="18" charset="0"/>
              </a:rPr>
              <a:t>Key code snippet.</a:t>
            </a:r>
          </a:p>
        </p:txBody>
      </p:sp>
      <p:pic>
        <p:nvPicPr>
          <p:cNvPr id="2" name="Picture 1">
            <a:extLst>
              <a:ext uri="{FF2B5EF4-FFF2-40B4-BE49-F238E27FC236}">
                <a16:creationId xmlns:a16="http://schemas.microsoft.com/office/drawing/2014/main" id="{4D9537F4-612E-B317-877A-1BBBF61667E0}"/>
              </a:ext>
            </a:extLst>
          </p:cNvPr>
          <p:cNvPicPr>
            <a:picLocks noChangeAspect="1"/>
          </p:cNvPicPr>
          <p:nvPr/>
        </p:nvPicPr>
        <p:blipFill>
          <a:blip r:embed="rId4"/>
          <a:stretch>
            <a:fillRect/>
          </a:stretch>
        </p:blipFill>
        <p:spPr>
          <a:xfrm>
            <a:off x="145711" y="2043595"/>
            <a:ext cx="5431150" cy="3015374"/>
          </a:xfrm>
          <a:prstGeom prst="rect">
            <a:avLst/>
          </a:prstGeom>
          <a:ln>
            <a:solidFill>
              <a:schemeClr val="tx1"/>
            </a:solidFill>
          </a:ln>
        </p:spPr>
      </p:pic>
    </p:spTree>
    <p:extLst>
      <p:ext uri="{BB962C8B-B14F-4D97-AF65-F5344CB8AC3E}">
        <p14:creationId xmlns:p14="http://schemas.microsoft.com/office/powerpoint/2010/main" val="22294079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85327-B86E-9887-162E-4F125A67271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7A6D335-5D4D-5070-4D8C-221EE96EE46B}"/>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Roles</a:t>
            </a:r>
            <a:endParaRPr lang="en-GB" sz="2800" dirty="0">
              <a:solidFill>
                <a:schemeClr val="bg2"/>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5676D2D-ACAF-285C-5ECD-DEF6386829B0}"/>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15</a:t>
            </a:r>
          </a:p>
          <a:p>
            <a:pPr algn="r"/>
            <a:endParaRPr lang="en-GB" sz="1400" noProof="0" dirty="0"/>
          </a:p>
        </p:txBody>
      </p:sp>
      <p:sp>
        <p:nvSpPr>
          <p:cNvPr id="7" name="Rectangle 6">
            <a:extLst>
              <a:ext uri="{FF2B5EF4-FFF2-40B4-BE49-F238E27FC236}">
                <a16:creationId xmlns:a16="http://schemas.microsoft.com/office/drawing/2014/main" id="{45014FE3-9879-E7D4-0847-4A06E8E2D374}"/>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Wingdings" pitchFamily="2" charset="2"/>
              <a:buChar char="q"/>
            </a:pP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8CE610B-3E5D-90D1-D691-231BA1EB6BAC}"/>
              </a:ext>
            </a:extLst>
          </p:cNvPr>
          <p:cNvGraphicFramePr>
            <a:graphicFrameLocks noGrp="1"/>
          </p:cNvGraphicFramePr>
          <p:nvPr>
            <p:extLst>
              <p:ext uri="{D42A27DB-BD31-4B8C-83A1-F6EECF244321}">
                <p14:modId xmlns:p14="http://schemas.microsoft.com/office/powerpoint/2010/main" val="494516582"/>
              </p:ext>
            </p:extLst>
          </p:nvPr>
        </p:nvGraphicFramePr>
        <p:xfrm>
          <a:off x="1932781" y="1749942"/>
          <a:ext cx="8326438" cy="3351438"/>
        </p:xfrm>
        <a:graphic>
          <a:graphicData uri="http://schemas.openxmlformats.org/drawingml/2006/table">
            <a:tbl>
              <a:tblPr firstRow="1" bandRow="1">
                <a:tableStyleId>{E8034E78-7F5D-4C2E-B375-FC64B27BC917}</a:tableStyleId>
              </a:tblPr>
              <a:tblGrid>
                <a:gridCol w="2424907">
                  <a:extLst>
                    <a:ext uri="{9D8B030D-6E8A-4147-A177-3AD203B41FA5}">
                      <a16:colId xmlns:a16="http://schemas.microsoft.com/office/drawing/2014/main" val="1875349307"/>
                    </a:ext>
                  </a:extLst>
                </a:gridCol>
                <a:gridCol w="5901531">
                  <a:extLst>
                    <a:ext uri="{9D8B030D-6E8A-4147-A177-3AD203B41FA5}">
                      <a16:colId xmlns:a16="http://schemas.microsoft.com/office/drawing/2014/main" val="3454804501"/>
                    </a:ext>
                  </a:extLst>
                </a:gridCol>
              </a:tblGrid>
              <a:tr h="425358">
                <a:tc>
                  <a:txBody>
                    <a:bodyPr/>
                    <a:lstStyle/>
                    <a:p>
                      <a:r>
                        <a:rPr lang="en-US" dirty="0">
                          <a:latin typeface="Times New Roman" panose="02020603050405020304" pitchFamily="18" charset="0"/>
                          <a:cs typeface="Times New Roman" panose="02020603050405020304" pitchFamily="18" charset="0"/>
                        </a:rPr>
                        <a:t>Name</a:t>
                      </a:r>
                    </a:p>
                  </a:txBody>
                  <a:tcPr>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Role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44640"/>
                  </a:ext>
                </a:extLst>
              </a:tr>
              <a:tr h="226485">
                <a:tc>
                  <a:txBody>
                    <a:bodyPr/>
                    <a:lstStyle/>
                    <a:p>
                      <a:r>
                        <a:rPr lang="en-US" dirty="0" err="1">
                          <a:solidFill>
                            <a:schemeClr val="tx1"/>
                          </a:solidFill>
                          <a:latin typeface="Times New Roman" panose="02020603050405020304" pitchFamily="18" charset="0"/>
                          <a:cs typeface="Times New Roman" panose="02020603050405020304" pitchFamily="18" charset="0"/>
                        </a:rPr>
                        <a:t>Anushyant</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r>
                        <a:rPr lang="en-US" dirty="0">
                          <a:solidFill>
                            <a:schemeClr val="tx1"/>
                          </a:solidFill>
                          <a:latin typeface="Times New Roman" panose="02020603050405020304" pitchFamily="18" charset="0"/>
                          <a:cs typeface="Times New Roman" panose="02020603050405020304" pitchFamily="18" charset="0"/>
                        </a:rPr>
                        <a:t>CAD Drafter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0643640"/>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latin typeface="Times New Roman" panose="02020603050405020304" pitchFamily="18" charset="0"/>
                          <a:cs typeface="Times New Roman" panose="02020603050405020304" pitchFamily="18" charset="0"/>
                        </a:rPr>
                        <a:t>Bishodeep</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5852042"/>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Shivam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Modelling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317075"/>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Aniket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l"/>
                      <a:r>
                        <a:rPr lang="en-US" dirty="0">
                          <a:solidFill>
                            <a:schemeClr val="tx1"/>
                          </a:solidFill>
                          <a:latin typeface="Times New Roman" panose="02020603050405020304" pitchFamily="18" charset="0"/>
                          <a:cs typeface="Times New Roman" panose="02020603050405020304" pitchFamily="18" charset="0"/>
                        </a:rPr>
                        <a:t>Material Procurement, Design Conformance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778068"/>
                  </a:ext>
                </a:extLst>
              </a:tr>
              <a:tr h="226485">
                <a:tc>
                  <a:txBody>
                    <a:bodyPr/>
                    <a:lstStyle/>
                    <a:p>
                      <a:r>
                        <a:rPr lang="en-US" dirty="0">
                          <a:solidFill>
                            <a:schemeClr val="tx1"/>
                          </a:solidFill>
                          <a:latin typeface="Times New Roman" panose="02020603050405020304" pitchFamily="18" charset="0"/>
                          <a:cs typeface="Times New Roman" panose="02020603050405020304" pitchFamily="18" charset="0"/>
                        </a:rPr>
                        <a:t>Laxmi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91312746"/>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Abdullah Rishad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5585431"/>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Juveria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r>
                        <a:rPr lang="en-US" dirty="0">
                          <a:solidFill>
                            <a:schemeClr val="tx1"/>
                          </a:solidFill>
                          <a:latin typeface="Times New Roman" panose="02020603050405020304" pitchFamily="18" charset="0"/>
                          <a:cs typeface="Times New Roman" panose="02020603050405020304" pitchFamily="18" charset="0"/>
                        </a:rPr>
                        <a:t>Simulation and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823817"/>
                  </a:ext>
                </a:extLst>
              </a:tr>
              <a:tr h="2264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Pranay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3824172"/>
                  </a:ext>
                </a:extLst>
              </a:tr>
            </a:tbl>
          </a:graphicData>
        </a:graphic>
      </p:graphicFrame>
    </p:spTree>
    <p:extLst>
      <p:ext uri="{BB962C8B-B14F-4D97-AF65-F5344CB8AC3E}">
        <p14:creationId xmlns:p14="http://schemas.microsoft.com/office/powerpoint/2010/main" val="4264976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20C9-9F9B-0E96-A003-583D6A8F3C2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06E5E0C-5B26-EE35-1630-C65EAB5BBD09}"/>
              </a:ext>
            </a:extLst>
          </p:cNvPr>
          <p:cNvSpPr/>
          <p:nvPr/>
        </p:nvSpPr>
        <p:spPr>
          <a:xfrm>
            <a:off x="0" y="-1"/>
            <a:ext cx="12192000" cy="76200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noProof="0" dirty="0">
                <a:solidFill>
                  <a:schemeClr val="bg2"/>
                </a:solidFill>
                <a:latin typeface="Times New Roman" panose="02020603050405020304" pitchFamily="18" charset="0"/>
                <a:ea typeface="Tahoma" panose="020B0604030504040204" pitchFamily="34" charset="0"/>
                <a:cs typeface="Times New Roman" panose="02020603050405020304" pitchFamily="18" charset="0"/>
              </a:rPr>
              <a:t>References</a:t>
            </a:r>
          </a:p>
        </p:txBody>
      </p:sp>
      <p:sp>
        <p:nvSpPr>
          <p:cNvPr id="6" name="Rectangle 5">
            <a:extLst>
              <a:ext uri="{FF2B5EF4-FFF2-40B4-BE49-F238E27FC236}">
                <a16:creationId xmlns:a16="http://schemas.microsoft.com/office/drawing/2014/main" id="{8868F182-2127-D344-9FAC-9EACBE2517A7}"/>
              </a:ext>
            </a:extLst>
          </p:cNvPr>
          <p:cNvSpPr/>
          <p:nvPr/>
        </p:nvSpPr>
        <p:spPr>
          <a:xfrm>
            <a:off x="0" y="6580909"/>
            <a:ext cx="12192000" cy="277091"/>
          </a:xfrm>
          <a:prstGeom prst="rect">
            <a:avLst/>
          </a:prstGeom>
          <a:solidFill>
            <a:schemeClr val="tx2"/>
          </a:solid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GB" sz="1400" b="1" noProof="0" dirty="0">
              <a:solidFill>
                <a:srgbClr val="FFFF00"/>
              </a:solidFill>
              <a:latin typeface="Times New Roman" panose="02020603050405020304" pitchFamily="18" charset="0"/>
              <a:cs typeface="Times New Roman" panose="02020603050405020304" pitchFamily="18" charset="0"/>
            </a:endParaRPr>
          </a:p>
          <a:p>
            <a:pPr algn="ctr"/>
            <a:r>
              <a:rPr lang="en-GB" sz="1400" b="1" noProof="0" dirty="0">
                <a:solidFill>
                  <a:schemeClr val="bg2"/>
                </a:solidFill>
                <a:latin typeface="Times New Roman" panose="02020603050405020304" pitchFamily="18" charset="0"/>
                <a:cs typeface="Times New Roman" panose="02020603050405020304" pitchFamily="18" charset="0"/>
              </a:rPr>
              <a:t>Slide : 16</a:t>
            </a:r>
          </a:p>
          <a:p>
            <a:pPr algn="r"/>
            <a:endParaRPr lang="en-GB" sz="1400" noProof="0" dirty="0"/>
          </a:p>
        </p:txBody>
      </p:sp>
      <p:sp>
        <p:nvSpPr>
          <p:cNvPr id="7" name="Rectangle 6">
            <a:extLst>
              <a:ext uri="{FF2B5EF4-FFF2-40B4-BE49-F238E27FC236}">
                <a16:creationId xmlns:a16="http://schemas.microsoft.com/office/drawing/2014/main" id="{E75C82DE-08C4-8AC7-04B2-A72E720AEED2}"/>
              </a:ext>
            </a:extLst>
          </p:cNvPr>
          <p:cNvSpPr/>
          <p:nvPr/>
        </p:nvSpPr>
        <p:spPr>
          <a:xfrm>
            <a:off x="0" y="761999"/>
            <a:ext cx="12192000" cy="5818910"/>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3"/>
              </a:rPr>
              <a:t>https://www.riverpublishers.com/pdf/ebook/chapter/RP_9788793237544C14.pdf</a:t>
            </a:r>
            <a:b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4"/>
              </a:rPr>
              <a:t>https://link.springer.com/content/pdf/10.1007/s12217-008-9043-2.pdf</a:t>
            </a:r>
            <a:b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5"/>
              </a:rPr>
              <a:t>https://ntrs.nasa.gov/api/citations/20160013279/downloads/20160013279.pdf</a:t>
            </a:r>
            <a:b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6"/>
              </a:rPr>
              <a:t>https://www.researchgate.net/publication/290479023_Facilities_for_Simulation_of_Microgravity_in_the_ESA_Ground-Based_Facility_Programme?_tp=eyJjb250ZXh0Ijp7ImZpcnN0UGFnZSI6InB1YmxpY2F0aW9uIiwicGFnZSI6InB1YmxpY2F0aW9uIn19</a:t>
            </a:r>
            <a:b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7"/>
              </a:rPr>
              <a:t>https://link.springer.com/protocol/10.1007/978-1-0716-1677-2_18</a:t>
            </a:r>
            <a:b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890588" indent="-711200">
              <a:buFont typeface="+mj-lt"/>
              <a:buAutoNum type="arabicPeriod"/>
              <a:tabLst>
                <a:tab pos="169863" algn="l"/>
              </a:tabLst>
            </a:pP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8"/>
              </a:rPr>
              <a:t>https://</a:t>
            </a:r>
            <a:r>
              <a:rPr lang="en-GB" dirty="0" err="1">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8"/>
              </a:rPr>
              <a:t>github.com</a:t>
            </a: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8"/>
              </a:rPr>
              <a:t>/</a:t>
            </a:r>
            <a:r>
              <a:rPr lang="en-GB" dirty="0" err="1">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8"/>
              </a:rPr>
              <a:t>wahabk</a:t>
            </a:r>
            <a:r>
              <a:rPr lang="en-GB" dirty="0">
                <a:solidFill>
                  <a:schemeClr val="tx1"/>
                </a:solidFill>
                <a:latin typeface="Times New Roman" panose="02020603050405020304" pitchFamily="18" charset="0"/>
                <a:ea typeface="Tahoma" panose="020B0604030504040204" pitchFamily="34" charset="0"/>
                <a:cs typeface="Times New Roman" panose="02020603050405020304" pitchFamily="18" charset="0"/>
                <a:hlinkClick r:id="rId8"/>
              </a:rPr>
              <a:t>/Clinostat</a:t>
            </a:r>
            <a:endParaRPr lang="en-GB" noProof="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6651A67F-749B-BC80-86DF-23754572F7C5}"/>
              </a:ext>
            </a:extLst>
          </p:cNvPr>
          <p:cNvSpPr txBox="1"/>
          <p:nvPr/>
        </p:nvSpPr>
        <p:spPr>
          <a:xfrm>
            <a:off x="6391275" y="1514475"/>
            <a:ext cx="1000125" cy="200025"/>
          </a:xfrm>
          <a:prstGeom prst="rect">
            <a:avLst/>
          </a:prstGeom>
          <a:noFill/>
        </p:spPr>
        <p:txBody>
          <a:bodyPr wrap="square" rtlCol="0">
            <a:spAutoFit/>
          </a:bodyPr>
          <a:lstStyle/>
          <a:p>
            <a:endParaRPr lang="en-GB" noProof="0" dirty="0"/>
          </a:p>
        </p:txBody>
      </p:sp>
    </p:spTree>
    <p:extLst>
      <p:ext uri="{BB962C8B-B14F-4D97-AF65-F5344CB8AC3E}">
        <p14:creationId xmlns:p14="http://schemas.microsoft.com/office/powerpoint/2010/main" val="36671451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DBFC2-8898-E46E-E6A2-CD22AACFF63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AE7861A-2A7C-358B-F3BC-8F319C55C1A2}"/>
              </a:ext>
            </a:extLst>
          </p:cNvPr>
          <p:cNvSpPr>
            <a:spLocks/>
          </p:cNvSpPr>
          <p:nvPr/>
        </p:nvSpPr>
        <p:spPr>
          <a:xfrm>
            <a:off x="0" y="-110836"/>
            <a:ext cx="12192000" cy="6968835"/>
          </a:xfrm>
          <a:prstGeom prst="rect">
            <a:avLst/>
          </a:prstGeom>
          <a:solidFill>
            <a:schemeClr val="bg2">
              <a:lumMod val="90000"/>
            </a:schemeClr>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GB" sz="6600" b="1" noProof="0" dirty="0">
                <a:solidFill>
                  <a:schemeClr val="tx1"/>
                </a:solidFill>
                <a:latin typeface="Times New Roman" panose="02020603050405020304" pitchFamily="18" charset="0"/>
                <a:cs typeface="Times New Roman" panose="02020603050405020304" pitchFamily="18" charset="0"/>
              </a:rPr>
              <a:t>THANK YOU :-)</a:t>
            </a:r>
            <a:endParaRPr lang="en-GB" sz="6600" noProof="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FF95B53-FF8B-CCE4-FE44-144A06773061}"/>
              </a:ext>
            </a:extLst>
          </p:cNvPr>
          <p:cNvSpPr txBox="1"/>
          <p:nvPr/>
        </p:nvSpPr>
        <p:spPr>
          <a:xfrm>
            <a:off x="8728364" y="6195399"/>
            <a:ext cx="3332017" cy="307777"/>
          </a:xfrm>
          <a:prstGeom prst="rect">
            <a:avLst/>
          </a:prstGeom>
          <a:noFill/>
        </p:spPr>
        <p:txBody>
          <a:bodyPr wrap="square">
            <a:spAutoFit/>
          </a:bodyPr>
          <a:lstStyle/>
          <a:p>
            <a:pPr algn="ctr"/>
            <a:r>
              <a:rPr lang="en-GB" sz="1400" noProof="0" dirty="0">
                <a:solidFill>
                  <a:schemeClr val="tx1"/>
                </a:solidFill>
                <a:latin typeface="Times New Roman" panose="02020603050405020304" pitchFamily="18" charset="0"/>
                <a:cs typeface="Times New Roman" panose="02020603050405020304" pitchFamily="18" charset="0"/>
              </a:rPr>
              <a:t>Glad to assist with doubts if any </a:t>
            </a:r>
            <a:r>
              <a:rPr lang="en-GB" sz="1400" dirty="0">
                <a:latin typeface="Times New Roman" panose="02020603050405020304" pitchFamily="18" charset="0"/>
                <a:cs typeface="Times New Roman" panose="02020603050405020304" pitchFamily="18" charset="0"/>
                <a:sym typeface="Wingdings" pitchFamily="2" charset="2"/>
              </a:rPr>
              <a:t>:-) </a:t>
            </a:r>
            <a:endParaRPr lang="en-GB" sz="1400" noProof="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16117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4672</TotalTime>
  <Words>1415</Words>
  <Application>Microsoft Macintosh PowerPoint</Application>
  <PresentationFormat>Widescreen</PresentationFormat>
  <Paragraphs>268</Paragraphs>
  <Slides>18</Slides>
  <Notes>16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Arial</vt:lpstr>
      <vt:lpstr>Calibri</vt:lpstr>
      <vt:lpstr>Cambria Math</vt:lpstr>
      <vt:lpstr>Times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SC25M147-PRANAY KUMAR PANDEY 2025-MTECH-MANUTECH</dc:creator>
  <cp:lastModifiedBy>SC25M147-PRANAY KUMAR PANDEY 2025-MTECH-MANUTECH</cp:lastModifiedBy>
  <cp:revision>21</cp:revision>
  <dcterms:created xsi:type="dcterms:W3CDTF">2025-10-18T15:49:22Z</dcterms:created>
  <dcterms:modified xsi:type="dcterms:W3CDTF">2025-11-28T10:41:17Z</dcterms:modified>
</cp:coreProperties>
</file>